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Atlas 4.0 — measured improvements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Atlas 3.6</c:v>
                </c:pt>
              </c:strCache>
            </c:strRef>
          </c:tx>
          <c:spPr>
            <a:solidFill>
              <a:srgbClr val="7C3AED"/>
            </a:solidFill>
          </c:spPr>
          <c:cat>
            <c:strRef>
              <c:f>Sheet1!$A$2:$A$5</c:f>
              <c:strCache>
                <c:ptCount val="4"/>
                <c:pt idx="0">
                  <c:v>MTTR (min)</c:v>
                </c:pt>
                <c:pt idx="1">
                  <c:v>Policy eval p95 (ms)</c:v>
                </c:pt>
                <c:pt idx="2">
                  <c:v>API throughput (req/s)</c:v>
                </c:pt>
                <c:pt idx="3">
                  <c:v>Cloud spend savings (%)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</c:v>
                </c:pt>
                <c:pt idx="1">
                  <c:v>420</c:v>
                </c:pt>
                <c:pt idx="2">
                  <c:v>9000</c:v>
                </c:pt>
                <c:pt idx="3">
                  <c:v>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Atlas 4.0</c:v>
                </c:pt>
              </c:strCache>
            </c:strRef>
          </c:tx>
          <c:spPr>
            <a:solidFill>
              <a:srgbClr val="22D3EE"/>
            </a:solidFill>
          </c:spPr>
          <c:cat>
            <c:strRef>
              <c:f>Sheet1!$A$2:$A$5</c:f>
              <c:strCache>
                <c:ptCount val="4"/>
                <c:pt idx="0">
                  <c:v>MTTR (min)</c:v>
                </c:pt>
                <c:pt idx="1">
                  <c:v>Policy eval p95 (ms)</c:v>
                </c:pt>
                <c:pt idx="2">
                  <c:v>API throughput (req/s)</c:v>
                </c:pt>
                <c:pt idx="3">
                  <c:v>Cloud spend savings (%)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</c:v>
                </c:pt>
                <c:pt idx="1">
                  <c:v>90</c:v>
                </c:pt>
                <c:pt idx="2">
                  <c:v>24000</c:v>
                </c:pt>
                <c:pt idx="3">
                  <c:v>22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Industry median</c:v>
                </c:pt>
              </c:strCache>
            </c:strRef>
          </c:tx>
          <c:spPr>
            <a:solidFill>
              <a:srgbClr val="F472B6"/>
            </a:solidFill>
          </c:spPr>
          <c:cat>
            <c:strRef>
              <c:f>Sheet1!$A$2:$A$5</c:f>
              <c:strCache>
                <c:ptCount val="4"/>
                <c:pt idx="0">
                  <c:v>MTTR (min)</c:v>
                </c:pt>
                <c:pt idx="1">
                  <c:v>Policy eval p95 (ms)</c:v>
                </c:pt>
                <c:pt idx="2">
                  <c:v>API throughput (req/s)</c:v>
                </c:pt>
                <c:pt idx="3">
                  <c:v>Cloud spend savings (%)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52</c:v>
                </c:pt>
                <c:pt idx="1">
                  <c:v>510</c:v>
                </c:pt>
                <c:pt idx="2">
                  <c:v>7800</c:v>
                </c:pt>
                <c:pt idx="3">
                  <c:v>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gradFill rotWithShape="1">
            <a:gsLst>
              <a:gs pos="0">
                <a:srgbClr val="7C3AED"/>
              </a:gs>
              <a:gs pos="100000">
                <a:srgbClr val="0B1020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0"/>
            <a:ext cx="109728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2D3EE"/>
                </a:solidFill>
                <a:latin typeface="Inter"/>
              </a:defRPr>
            </a:pPr>
            <a:r>
              <a:rPr/>
              <a:t>ATLAS CLOUD CONSOLE 4.0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4297680" cy="2926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rPr sz="4400" b="1" i="0">
                <a:latin typeface="Inter"/>
              </a:rPr>
              <a:t>One console.</a:t>
            </a:r>
            <a:endParaRPr sz="4400" b="1" i="0">
              <a:latin typeface="Inter"/>
            </a:endParaRPr>
          </a:p>
          <a:p>
            <a:r>
              <a:rPr sz="4400" b="1" i="0">
                <a:latin typeface="Inter"/>
              </a:rPr>
              <a:t>Every cloud.</a:t>
            </a:r>
            <a:endParaRPr sz="4400" b="1" i="0">
              <a:latin typeface="Inter"/>
            </a:endParaRPr>
          </a:p>
          <a:p>
            <a:r>
              <a:rPr sz="4400" b="1" i="0">
                <a:latin typeface="Inter"/>
              </a:rPr>
              <a:t>Any scale.</a:t>
            </a:r>
            <a:endParaRPr sz="4400" b="1" i="0">
              <a:latin typeface="Int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0" y="2377440"/>
            <a:ext cx="6217920" cy="21945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0B1020"/>
                </a:solidFill>
              </a:defRPr>
            </a:pPr>
            <a:r>
              <a:rPr sz="2800" b="0" i="0">
                <a:latin typeface="Inter"/>
              </a:rPr>
              <a:t>The unified operations plane for multi-cloud infrastructure — now with autonomous remediation, FinOps, and policy-as-code built in.</a:t>
            </a:r>
            <a:endParaRPr sz="2800" b="0" i="0">
              <a:latin typeface="Inter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0" y="5303520"/>
            <a:ext cx="6217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B1020"/>
                </a:solidFill>
                <a:latin typeface="Inter"/>
              </a:defRPr>
            </a:pPr>
            <a:r>
              <a:rPr/>
              <a:t>Priya Ramachandran, SVP Product</a:t>
            </a:r>
          </a:p>
          <a:p>
            <a:pPr>
              <a:defRPr sz="1200">
                <a:solidFill>
                  <a:srgbClr val="6B7280"/>
                </a:solidFill>
                <a:latin typeface="Inter"/>
              </a:defRPr>
            </a:pPr>
            <a:r>
              <a:rPr/>
              <a:t>Worldwide Launch  •  May 14, 2026</a:t>
            </a:r>
          </a:p>
        </p:txBody>
      </p:sp>
    </p:spTree>
  </p:cSld>
  <p:clrMapOvr>
    <a:masterClrMapping/>
  </p:clrMapOvr>
  <p:transition xmlns:ns0="http://schemas.microsoft.com/office/powerpoint/2010/main" ns0:dur="400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2D3EE"/>
                </a:solidFill>
                <a:latin typeface="Inter"/>
              </a:defRPr>
            </a:pPr>
            <a:r>
              <a:rPr/>
              <a:t>WHY THIS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0B1020"/>
                </a:solidFill>
              </a:defRPr>
            </a:pPr>
            <a:r>
              <a:rPr sz="3200" b="1" i="0">
                <a:latin typeface="Inter"/>
              </a:rPr>
              <a:t>Operations teams are drowning in tools</a:t>
            </a:r>
            <a:endParaRPr sz="3200" b="1" i="0">
              <a:latin typeface="Inter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486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2697480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228600" dist="50800" dir="5400000">
              <a:srgbClr val="0B102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228600" bIns="203200"/>
          <a:lstStyle/>
          <a:p>
            <a:pPr>
              <a:defRPr sz="4000" b="1">
                <a:solidFill>
                  <a:srgbClr val="7C3AED"/>
                </a:solidFill>
                <a:latin typeface="Inter"/>
              </a:defRPr>
            </a:pPr>
            <a:r>
              <a:rPr/>
              <a:t>47</a:t>
            </a:r>
          </a:p>
          <a:p>
            <a:pPr>
              <a:spcBef>
                <a:spcPts val="600"/>
              </a:spcBef>
              <a:defRPr sz="1300">
                <a:solidFill>
                  <a:srgbClr val="6B7280"/>
                </a:solidFill>
                <a:latin typeface="Inter"/>
              </a:defRPr>
            </a:pPr>
            <a:r>
              <a:rPr/>
              <a:t>average tools per platform team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10712" y="1783080"/>
            <a:ext cx="2697480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228600" dist="50800" dir="5400000">
              <a:srgbClr val="0B102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228600" bIns="203200"/>
          <a:lstStyle/>
          <a:p>
            <a:pPr>
              <a:defRPr sz="4000" b="1">
                <a:solidFill>
                  <a:srgbClr val="22D3EE"/>
                </a:solidFill>
                <a:latin typeface="Inter"/>
              </a:defRPr>
            </a:pPr>
            <a:r>
              <a:rPr/>
              <a:t>31%</a:t>
            </a:r>
          </a:p>
          <a:p>
            <a:pPr>
              <a:spcBef>
                <a:spcPts val="600"/>
              </a:spcBef>
              <a:defRPr sz="1300">
                <a:solidFill>
                  <a:srgbClr val="6B7280"/>
                </a:solidFill>
                <a:latin typeface="Inter"/>
              </a:defRPr>
            </a:pPr>
            <a:r>
              <a:rPr/>
              <a:t>of incident time spent context-switching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2784" y="1783080"/>
            <a:ext cx="2697480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228600" dist="50800" dir="5400000">
              <a:srgbClr val="0B102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228600" bIns="203200"/>
          <a:lstStyle/>
          <a:p>
            <a:pPr>
              <a:defRPr sz="4000" b="1">
                <a:solidFill>
                  <a:srgbClr val="F472B6"/>
                </a:solidFill>
                <a:latin typeface="Inter"/>
              </a:defRPr>
            </a:pPr>
            <a:r>
              <a:rPr/>
              <a:t>$84B</a:t>
            </a:r>
          </a:p>
          <a:p>
            <a:pPr>
              <a:spcBef>
                <a:spcPts val="600"/>
              </a:spcBef>
              <a:defRPr sz="1300">
                <a:solidFill>
                  <a:srgbClr val="6B7280"/>
                </a:solidFill>
                <a:latin typeface="Inter"/>
              </a:defRPr>
            </a:pPr>
            <a:r>
              <a:rPr/>
              <a:t>wasted cloud spend industry-wide in 2025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34856" y="1783080"/>
            <a:ext cx="2697480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228600" dist="50800" dir="5400000">
              <a:srgbClr val="0B102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228600" bIns="203200"/>
          <a:lstStyle/>
          <a:p>
            <a:pPr>
              <a:defRPr sz="4000" b="1">
                <a:solidFill>
                  <a:srgbClr val="10B981"/>
                </a:solidFill>
                <a:latin typeface="Inter"/>
              </a:defRPr>
            </a:pPr>
            <a:r>
              <a:rPr/>
              <a:t>4 of 5</a:t>
            </a:r>
          </a:p>
          <a:p>
            <a:pPr>
              <a:spcBef>
                <a:spcPts val="600"/>
              </a:spcBef>
              <a:defRPr sz="1300">
                <a:solidFill>
                  <a:srgbClr val="6B7280"/>
                </a:solidFill>
                <a:latin typeface="Inter"/>
              </a:defRPr>
            </a:pPr>
            <a:r>
              <a:rPr/>
              <a:t>engineers report alert fatigue weekly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26280"/>
            <a:ext cx="11064240" cy="1280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0B1020"/>
                </a:solidFill>
              </a:defRPr>
            </a:pPr>
            <a:r>
              <a:rPr sz="1800" b="0" i="0">
                <a:latin typeface="Inter"/>
              </a:rPr>
              <a:t>The result: outages get longer, budgets get cut, and best engineers leave. Teams need a single plane that consolidates the noise — without forcing a forklift.</a:t>
            </a:r>
            <a:endParaRPr sz="1800" b="0" i="0">
              <a:latin typeface="Inter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Atlas Cloud Console 4.0  |  Launch Day Briefing  |  May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64008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2</a:t>
            </a:r>
          </a:p>
        </p:txBody>
      </p:sp>
    </p:spTree>
  </p:cSld>
  <p:clrMapOvr>
    <a:masterClrMapping/>
  </p:clrMapOvr>
  <p:transition xmlns:ns0="http://schemas.microsoft.com/office/powerpoint/2010/main" ns0:dur="400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7C3AED"/>
              </a:gs>
              <a:gs pos="100000">
                <a:srgbClr val="22D3EE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rPr/>
              <a:t>INTRODUCING ATLAS 4.0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21945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rPr sz="6600" b="1" i="0">
                <a:latin typeface="Inter"/>
              </a:rPr>
              <a:t>Multi-cloud operations.</a:t>
            </a:r>
            <a:endParaRPr sz="6600" b="1" i="0">
              <a:latin typeface="Inter"/>
            </a:endParaRPr>
          </a:p>
          <a:p>
            <a:r>
              <a:rPr sz="6600" b="1" i="0">
                <a:latin typeface="Inter"/>
              </a:rPr>
              <a:t>Now autonomous.</a:t>
            </a:r>
            <a:endParaRPr sz="6600" b="1" i="0">
              <a:latin typeface="Inter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F8FAFC">
                    <a:alpha val="92000"/>
                  </a:srgbClr>
                </a:solidFill>
              </a:defRPr>
            </a:pPr>
            <a:r>
              <a:rPr sz="2000" b="0" i="0">
                <a:latin typeface="Inter"/>
              </a:rPr>
              <a:t>A unified plane for AWS, Azure, GCP, and on-prem. Built on an open agent runtime and a policy graph your platform team already knows.</a:t>
            </a:r>
            <a:endParaRPr sz="2000" b="0" i="0">
              <a:latin typeface="Inter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5120640"/>
            <a:ext cx="2606040" cy="548640"/>
          </a:xfrm>
          <a:prstGeom prst="roundRect">
            <a:avLst>
              <a:gd name="adj" fmla="val 50000"/>
            </a:avLst>
          </a:prstGeom>
          <a:solidFill>
            <a:srgbClr val="FFFFFF">
              <a:alpha val="14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Inter"/>
              </a:defRPr>
            </a:pPr>
            <a:r>
              <a:rPr/>
              <a:t>Autonomous remediation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5120640"/>
            <a:ext cx="2606040" cy="548640"/>
          </a:xfrm>
          <a:prstGeom prst="roundRect">
            <a:avLst>
              <a:gd name="adj" fmla="val 50000"/>
            </a:avLst>
          </a:prstGeom>
          <a:solidFill>
            <a:srgbClr val="FFFFFF">
              <a:alpha val="14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Inter"/>
              </a:defRPr>
            </a:pPr>
            <a:r>
              <a:rPr/>
              <a:t>FinOps insights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5120640"/>
            <a:ext cx="2606040" cy="548640"/>
          </a:xfrm>
          <a:prstGeom prst="roundRect">
            <a:avLst>
              <a:gd name="adj" fmla="val 50000"/>
            </a:avLst>
          </a:prstGeom>
          <a:solidFill>
            <a:srgbClr val="FFFFFF">
              <a:alpha val="14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Inter"/>
              </a:defRPr>
            </a:pPr>
            <a:r>
              <a:rPr/>
              <a:t>Policy-as-code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5120640"/>
            <a:ext cx="2606040" cy="548640"/>
          </a:xfrm>
          <a:prstGeom prst="roundRect">
            <a:avLst>
              <a:gd name="adj" fmla="val 50000"/>
            </a:avLst>
          </a:prstGeom>
          <a:solidFill>
            <a:srgbClr val="FFFFFF">
              <a:alpha val="14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Inter"/>
              </a:defRPr>
            </a:pPr>
            <a:r>
              <a:rPr/>
              <a:t>Open agent runtime</a:t>
            </a:r>
          </a:p>
        </p:txBody>
      </p:sp>
    </p:spTree>
  </p:cSld>
  <p:clrMapOvr>
    <a:masterClrMapping/>
  </p:clrMapOvr>
  <p:transition xmlns:ns0="http://schemas.microsoft.com/office/powerpoint/2010/main" ns0:dur="400">
    <p:fade/>
  </p:transition>
  <p:timing>
    <p:tnLst>
      <p:par>
        <p:cTn id="1" dur="indefinite" restart="never" nodeType="tmRoot">
          <p:childTnLst>
            <p:par>
              <p:cTn fill="hold" id="2">
                <p:stCondLst>
                  <p:cond delay="0"/>
                </p:stCondLst>
                <p:childTnLst>
                  <p:par>
                    <p:cTn id="3" presetID="10" presetClass="entr" presetSubtype="0" fill="hold" grpId="0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5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fill="hold" id="6">
                <p:stCondLst>
                  <p:cond delay="0"/>
                </p:stCondLst>
                <p:childTnLst>
                  <p:par>
                    <p:cTn id="7" presetID="10" presetClass="entr" presetSubtype="0" fill="hold" grpId="0" nodeType="afterEffect">
                      <p:stCondLst>
                        <p:cond delay="0"/>
                      </p:stCondLst>
                      <p:childTnLst>
                        <p:set>
                          <p:cBhvr>
                            <p:cTn id="8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" dur="50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2D3EE"/>
                </a:solidFill>
                <a:latin typeface="Inter"/>
              </a:defRPr>
            </a:pPr>
            <a:r>
              <a:rPr/>
              <a:t>WHAT'S NEW IN 4.0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0B1020"/>
                </a:solidFill>
              </a:defRPr>
            </a:pPr>
            <a:r>
              <a:rPr sz="3200" b="1" i="0">
                <a:latin typeface="Inter"/>
              </a:rPr>
              <a:t>Six capabilities your platform team will love</a:t>
            </a:r>
            <a:endParaRPr sz="3200" b="1" i="0">
              <a:latin typeface="Inter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486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3703320" cy="2240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228600" dist="50800" dir="5400000">
              <a:srgbClr val="0B102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77800" bIns="177800"/>
          <a:lstStyle/>
          <a:p>
            <a:pPr>
              <a:defRPr sz="2800">
                <a:solidFill>
                  <a:srgbClr val="7C3AED"/>
                </a:solidFill>
              </a:defRPr>
            </a:pPr>
            <a:r>
              <a:rPr/>
              <a:t>⚡</a:t>
            </a:r>
          </a:p>
          <a:p>
            <a:pPr>
              <a:spcBef>
                <a:spcPts val="400"/>
              </a:spcBef>
              <a:defRPr sz="1600" b="1">
                <a:solidFill>
                  <a:srgbClr val="0B1020"/>
                </a:solidFill>
                <a:latin typeface="Inter"/>
              </a:defRPr>
            </a:pPr>
            <a:r>
              <a:rPr/>
              <a:t>Autonomous remediation</a:t>
            </a:r>
          </a:p>
          <a:p>
            <a:pPr>
              <a:spcBef>
                <a:spcPts val="400"/>
              </a:spcBef>
              <a:defRPr sz="1100">
                <a:solidFill>
                  <a:srgbClr val="6B7280"/>
                </a:solidFill>
                <a:latin typeface="Inter"/>
              </a:defRPr>
            </a:pPr>
            <a:r>
              <a:rPr/>
              <a:t>Closed-loop incident response. Detects, decides, and fixes — humans approve, never type.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703320" cy="2240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228600" dist="50800" dir="5400000">
              <a:srgbClr val="0B102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77800" bIns="177800"/>
          <a:lstStyle/>
          <a:p>
            <a:pPr>
              <a:defRPr sz="2800">
                <a:solidFill>
                  <a:srgbClr val="7C3AED"/>
                </a:solidFill>
              </a:defRPr>
            </a:pPr>
            <a:r>
              <a:rPr/>
              <a:t>📊</a:t>
            </a:r>
          </a:p>
          <a:p>
            <a:pPr>
              <a:spcBef>
                <a:spcPts val="400"/>
              </a:spcBef>
              <a:defRPr sz="1600" b="1">
                <a:solidFill>
                  <a:srgbClr val="0B1020"/>
                </a:solidFill>
                <a:latin typeface="Inter"/>
              </a:defRPr>
            </a:pPr>
            <a:r>
              <a:rPr/>
              <a:t>FinOps insights</a:t>
            </a:r>
          </a:p>
          <a:p>
            <a:pPr>
              <a:spcBef>
                <a:spcPts val="400"/>
              </a:spcBef>
              <a:defRPr sz="1100">
                <a:solidFill>
                  <a:srgbClr val="6B7280"/>
                </a:solidFill>
                <a:latin typeface="Inter"/>
              </a:defRPr>
            </a:pPr>
            <a:r>
              <a:rPr/>
              <a:t>Per-team, per-service spend with budget guardrails. Cuts cloud bills by 22% on average.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645920"/>
            <a:ext cx="3703320" cy="2240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228600" dist="50800" dir="5400000">
              <a:srgbClr val="0B102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77800" bIns="177800"/>
          <a:lstStyle/>
          <a:p>
            <a:pPr>
              <a:defRPr sz="2800">
                <a:solidFill>
                  <a:srgbClr val="7C3AED"/>
                </a:solidFill>
              </a:defRPr>
            </a:pPr>
            <a:r>
              <a:rPr/>
              <a:t>📜</a:t>
            </a:r>
          </a:p>
          <a:p>
            <a:pPr>
              <a:spcBef>
                <a:spcPts val="400"/>
              </a:spcBef>
              <a:defRPr sz="1600" b="1">
                <a:solidFill>
                  <a:srgbClr val="0B1020"/>
                </a:solidFill>
                <a:latin typeface="Inter"/>
              </a:defRPr>
            </a:pPr>
            <a:r>
              <a:rPr/>
              <a:t>Policy-as-code</a:t>
            </a:r>
          </a:p>
          <a:p>
            <a:pPr>
              <a:spcBef>
                <a:spcPts val="400"/>
              </a:spcBef>
              <a:defRPr sz="1100">
                <a:solidFill>
                  <a:srgbClr val="6B7280"/>
                </a:solidFill>
                <a:latin typeface="Inter"/>
              </a:defRPr>
            </a:pPr>
            <a:r>
              <a:rPr/>
              <a:t>Declarative guardrails authored in Rego or CUE. Continuously enforced across every cloud.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069080"/>
            <a:ext cx="3703320" cy="2240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228600" dist="50800" dir="5400000">
              <a:srgbClr val="0B102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77800" bIns="177800"/>
          <a:lstStyle/>
          <a:p>
            <a:pPr>
              <a:defRPr sz="2800">
                <a:solidFill>
                  <a:srgbClr val="7C3AED"/>
                </a:solidFill>
              </a:defRPr>
            </a:pPr>
            <a:r>
              <a:rPr/>
              <a:t>🔌</a:t>
            </a:r>
          </a:p>
          <a:p>
            <a:pPr>
              <a:spcBef>
                <a:spcPts val="400"/>
              </a:spcBef>
              <a:defRPr sz="1600" b="1">
                <a:solidFill>
                  <a:srgbClr val="0B1020"/>
                </a:solidFill>
                <a:latin typeface="Inter"/>
              </a:defRPr>
            </a:pPr>
            <a:r>
              <a:rPr/>
              <a:t>Open agent runtime</a:t>
            </a:r>
          </a:p>
          <a:p>
            <a:pPr>
              <a:spcBef>
                <a:spcPts val="400"/>
              </a:spcBef>
              <a:defRPr sz="1100">
                <a:solidFill>
                  <a:srgbClr val="6B7280"/>
                </a:solidFill>
                <a:latin typeface="Inter"/>
              </a:defRPr>
            </a:pPr>
            <a:r>
              <a:rPr/>
              <a:t>Bring-your-own runners on Kubernetes, ECS, or bare-metal. No SDK lock-in. Apache 2.0.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4069080"/>
            <a:ext cx="3703320" cy="2240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228600" dist="50800" dir="5400000">
              <a:srgbClr val="0B102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77800" bIns="177800"/>
          <a:lstStyle/>
          <a:p>
            <a:pPr>
              <a:defRPr sz="2800">
                <a:solidFill>
                  <a:srgbClr val="7C3AED"/>
                </a:solidFill>
              </a:defRPr>
            </a:pPr>
            <a:r>
              <a:rPr/>
              <a:t>🔒</a:t>
            </a:r>
          </a:p>
          <a:p>
            <a:pPr>
              <a:spcBef>
                <a:spcPts val="400"/>
              </a:spcBef>
              <a:defRPr sz="1600" b="1">
                <a:solidFill>
                  <a:srgbClr val="0B1020"/>
                </a:solidFill>
                <a:latin typeface="Inter"/>
              </a:defRPr>
            </a:pPr>
            <a:r>
              <a:rPr/>
              <a:t>Sovereign deployments</a:t>
            </a:r>
          </a:p>
          <a:p>
            <a:pPr>
              <a:spcBef>
                <a:spcPts val="400"/>
              </a:spcBef>
              <a:defRPr sz="1100">
                <a:solidFill>
                  <a:srgbClr val="6B7280"/>
                </a:solidFill>
                <a:latin typeface="Inter"/>
              </a:defRPr>
            </a:pPr>
            <a:r>
              <a:rPr/>
              <a:t>FedRAMP High, EU sovereign, and dedicated tenant tiers — same console, isolated control plane.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4069080"/>
            <a:ext cx="3703320" cy="2240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228600" dist="50800" dir="5400000">
              <a:srgbClr val="0B102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77800" bIns="177800"/>
          <a:lstStyle/>
          <a:p>
            <a:pPr>
              <a:defRPr sz="2800">
                <a:solidFill>
                  <a:srgbClr val="7C3AED"/>
                </a:solidFill>
              </a:defRPr>
            </a:pPr>
            <a:r>
              <a:rPr/>
              <a:t>🔭</a:t>
            </a:r>
          </a:p>
          <a:p>
            <a:pPr>
              <a:spcBef>
                <a:spcPts val="400"/>
              </a:spcBef>
              <a:defRPr sz="1600" b="1">
                <a:solidFill>
                  <a:srgbClr val="0B1020"/>
                </a:solidFill>
                <a:latin typeface="Inter"/>
              </a:defRPr>
            </a:pPr>
            <a:r>
              <a:rPr/>
              <a:t>Unified observability</a:t>
            </a:r>
          </a:p>
          <a:p>
            <a:pPr>
              <a:spcBef>
                <a:spcPts val="400"/>
              </a:spcBef>
              <a:defRPr sz="1100">
                <a:solidFill>
                  <a:srgbClr val="6B7280"/>
                </a:solidFill>
                <a:latin typeface="Inter"/>
              </a:defRPr>
            </a:pPr>
            <a:r>
              <a:rPr/>
              <a:t>OpenTelemetry-native. Native ingest from Datadog, New Relic, and Prometheus — no re-instrumentation.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Atlas Cloud Console 4.0  |  Launch Day Briefing  |  May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64008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4</a:t>
            </a:r>
          </a:p>
        </p:txBody>
      </p:sp>
    </p:spTree>
  </p:cSld>
  <p:clrMapOvr>
    <a:masterClrMapping/>
  </p:clrMapOvr>
  <p:transition xmlns:ns0="http://schemas.microsoft.com/office/powerpoint/2010/main" ns0:dur="400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7C3AED"/>
                </a:solidFill>
                <a:latin typeface="Inter"/>
              </a:rPr>
              <a:t>What customers achieve in 90 days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45920"/>
            <a:ext cx="2602153" cy="1737360"/>
          </a:xfrm>
          <a:prstGeom prst="roundRect">
            <a:avLst/>
          </a:prstGeom>
          <a:solidFill>
            <a:srgbClr val="F5F3FF"/>
          </a:solidFill>
          <a:ln w="9525">
            <a:solidFill>
              <a:srgbClr val="6B7280"/>
            </a:solidFill>
          </a:ln>
          <a:effectLst>
            <a:outerShdw dist="50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874520"/>
            <a:ext cx="2602153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7C3AED"/>
                </a:solidFill>
                <a:latin typeface="Inter"/>
              </a:rPr>
              <a:t>−74%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260215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>
                <a:solidFill>
                  <a:srgbClr val="6B7280"/>
                </a:solidFill>
                <a:latin typeface="Inter"/>
              </a:rPr>
              <a:t>Mean time to remediate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17520"/>
            <a:ext cx="260215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EF4444"/>
                </a:solidFill>
                <a:latin typeface="Inter"/>
              </a:rPr>
              <a:t>−74%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79393" y="1645920"/>
            <a:ext cx="2602153" cy="1737360"/>
          </a:xfrm>
          <a:prstGeom prst="roundRect">
            <a:avLst/>
          </a:prstGeom>
          <a:solidFill>
            <a:srgbClr val="F5F3FF"/>
          </a:solidFill>
          <a:ln w="9525">
            <a:solidFill>
              <a:srgbClr val="6B7280"/>
            </a:solidFill>
          </a:ln>
          <a:effectLst>
            <a:outerShdw dist="50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379393" y="1874520"/>
            <a:ext cx="2602153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7C3AED"/>
                </a:solidFill>
                <a:latin typeface="Inter"/>
              </a:rPr>
              <a:t>−22%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79393" y="2651760"/>
            <a:ext cx="260215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>
                <a:solidFill>
                  <a:srgbClr val="6B7280"/>
                </a:solidFill>
                <a:latin typeface="Inter"/>
              </a:rPr>
              <a:t>Cloud spend optimised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79393" y="3017520"/>
            <a:ext cx="260215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EF4444"/>
                </a:solidFill>
                <a:latin typeface="Inter"/>
              </a:rPr>
              <a:t>−22%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0146" y="1645920"/>
            <a:ext cx="2602153" cy="1737360"/>
          </a:xfrm>
          <a:prstGeom prst="roundRect">
            <a:avLst/>
          </a:prstGeom>
          <a:solidFill>
            <a:srgbClr val="F5F3FF"/>
          </a:solidFill>
          <a:ln w="9525">
            <a:solidFill>
              <a:srgbClr val="6B7280"/>
            </a:solidFill>
          </a:ln>
          <a:effectLst>
            <a:outerShdw dist="50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0146" y="1874520"/>
            <a:ext cx="2602153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7C3AED"/>
                </a:solidFill>
                <a:latin typeface="Inter"/>
              </a:rPr>
              <a:t>−91%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0146" y="2651760"/>
            <a:ext cx="260215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>
                <a:solidFill>
                  <a:srgbClr val="6B7280"/>
                </a:solidFill>
                <a:latin typeface="Inter"/>
              </a:rPr>
              <a:t>Policy violations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0146" y="3017520"/>
            <a:ext cx="260215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EF4444"/>
                </a:solidFill>
                <a:latin typeface="Inter"/>
              </a:rPr>
              <a:t>−91%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40899" y="1645920"/>
            <a:ext cx="2602153" cy="1737360"/>
          </a:xfrm>
          <a:prstGeom prst="roundRect">
            <a:avLst/>
          </a:prstGeom>
          <a:solidFill>
            <a:srgbClr val="F5F3FF"/>
          </a:solidFill>
          <a:ln w="9525">
            <a:solidFill>
              <a:srgbClr val="6B7280"/>
            </a:solidFill>
          </a:ln>
          <a:effectLst>
            <a:outerShdw dist="50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040899" y="1874520"/>
            <a:ext cx="2602153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7C3AED"/>
                </a:solidFill>
                <a:latin typeface="Inter"/>
              </a:rPr>
              <a:t>+18 wk/yr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40899" y="2651760"/>
            <a:ext cx="260215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>
                <a:solidFill>
                  <a:srgbClr val="6B7280"/>
                </a:solidFill>
                <a:latin typeface="Inter"/>
              </a:rPr>
              <a:t>Engineer hours saved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40899" y="3017520"/>
            <a:ext cx="260215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0B981"/>
                </a:solidFill>
                <a:latin typeface="Inter"/>
              </a:rPr>
              <a:t>+32%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Atlas Cloud Console 4.0  |  Launch Day Briefing  |  May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64008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5</a:t>
            </a:r>
          </a:p>
        </p:txBody>
      </p:sp>
    </p:spTree>
  </p:cSld>
  <p:clrMapOvr>
    <a:masterClrMapping/>
  </p:clrMapOvr>
  <p:transition xmlns:ns0="http://schemas.microsoft.com/office/powerpoint/2010/main" ns0:dur="400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2D3EE"/>
                </a:solidFill>
                <a:latin typeface="Inter"/>
              </a:defRPr>
            </a:pPr>
            <a:r>
              <a:rPr/>
              <a:t>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0B1020"/>
                </a:solidFill>
              </a:defRPr>
            </a:pPr>
            <a:r>
              <a:rPr sz="3200" b="1" i="0">
                <a:latin typeface="Inter"/>
              </a:rPr>
              <a:t>Atlas 4.0 benchmarks vs. 3.x and the field</a:t>
            </a:r>
            <a:endParaRPr sz="3200" b="1" i="0">
              <a:latin typeface="Inter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486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554480"/>
          <a:ext cx="1106424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Atlas Cloud Console 4.0  |  Launch Day Briefing  |  May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64008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6</a:t>
            </a:r>
          </a:p>
        </p:txBody>
      </p:sp>
    </p:spTree>
  </p:cSld>
  <p:clrMapOvr>
    <a:masterClrMapping/>
  </p:clrMapOvr>
  <p:transition xmlns:ns0="http://schemas.microsoft.com/office/powerpoint/2010/main" ns0:dur="400">
    <p:fade/>
  </p:transition>
  <p:timing>
    <p:tnLst>
      <p:par>
        <p:cTn id="1" dur="indefinite" restart="never" nodeType="tmRoot">
          <p:childTnLst>
            <p:par>
              <p:cTn fill="hold" id="2">
                <p:stCondLst>
                  <p:cond delay="indefinite"/>
                </p:stCondLst>
                <p:childTnLst>
                  <p:par>
                    <p:cTn id="3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50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2D3EE"/>
                </a:solidFill>
                <a:latin typeface="Inter"/>
              </a:defRPr>
            </a:pPr>
            <a:r>
              <a:rPr/>
              <a:t>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0B1020"/>
                </a:solidFill>
              </a:defRPr>
            </a:pPr>
            <a:r>
              <a:rPr sz="3200" b="1" i="0">
                <a:latin typeface="Inter"/>
              </a:rPr>
              <a:t>How we compare on what matters</a:t>
            </a:r>
            <a:endParaRPr sz="3200" b="1" i="0">
              <a:latin typeface="Inter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486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11064236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988819"/>
                <a:gridCol w="1988819"/>
                <a:gridCol w="1988819"/>
                <a:gridCol w="1988819"/>
              </a:tblGrid>
              <a:tr h="600891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Capability</a:t>
                      </a:r>
                    </a:p>
                  </a:txBody>
                  <a:tcPr anchor="ctr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Atlas 4.0</a:t>
                      </a:r>
                    </a:p>
                  </a:txBody>
                  <a:tcPr anchor="ctr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Vendor A</a:t>
                      </a:r>
                    </a:p>
                  </a:txBody>
                  <a:tcPr anchor="ctr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Vendor B</a:t>
                      </a:r>
                    </a:p>
                  </a:txBody>
                  <a:tcPr anchor="ctr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Vendor C</a:t>
                      </a:r>
                    </a:p>
                  </a:txBody>
                  <a:tcPr anchor="ctr">
                    <a:solidFill>
                      <a:srgbClr val="7C3AED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B1020"/>
                          </a:solidFill>
                        </a:defRPr>
                      </a:pPr>
                      <a:r>
                        <a:t>Multi-cloud parity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0B981"/>
                          </a:solidFill>
                        </a:defRPr>
                      </a:pPr>
                      <a:r>
                        <a:t>✓ Native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B1020"/>
                          </a:solidFill>
                        </a:defRPr>
                      </a:pPr>
                      <a:r>
                        <a:t>Partial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B1020"/>
                          </a:solidFill>
                        </a:defRPr>
                      </a:pPr>
                      <a:r>
                        <a:t>AWS-first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B1020"/>
                          </a:solidFill>
                        </a:defRPr>
                      </a:pPr>
                      <a:r>
                        <a:t>Partial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B1020"/>
                          </a:solidFill>
                        </a:defRPr>
                      </a:pPr>
                      <a:r>
                        <a:t>Autonomous remediation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0B981"/>
                          </a:solidFill>
                        </a:defRPr>
                      </a:pPr>
                      <a:r>
                        <a:t>✓ Closed-loop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B1020"/>
                          </a:solidFill>
                        </a:defRPr>
                      </a:pPr>
                      <a:r>
                        <a:t>Manual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B1020"/>
                          </a:solidFill>
                        </a:defRPr>
                      </a:pPr>
                      <a:r>
                        <a:t>Suggest-only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B1020"/>
                          </a:solidFill>
                        </a:defRPr>
                      </a:pPr>
                      <a:r>
                        <a:t>Suggest-only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5F3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B1020"/>
                          </a:solidFill>
                        </a:defRPr>
                      </a:pPr>
                      <a:r>
                        <a:t>Policy-as-code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0B981"/>
                          </a:solidFill>
                        </a:defRPr>
                      </a:pPr>
                      <a:r>
                        <a:t>✓ Rego + CUE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B1020"/>
                          </a:solidFill>
                        </a:defRPr>
                      </a:pPr>
                      <a:r>
                        <a:t>Proprietary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B1020"/>
                          </a:solidFill>
                        </a:defRPr>
                      </a:pPr>
                      <a:r>
                        <a:t>Proprietary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B1020"/>
                          </a:solidFill>
                        </a:defRPr>
                      </a:pPr>
                      <a:r>
                        <a:t>✓ Rego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B1020"/>
                          </a:solidFill>
                        </a:defRPr>
                      </a:pPr>
                      <a:r>
                        <a:t>FedRAMP High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0B981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B1020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B1020"/>
                          </a:solidFill>
                        </a:defRPr>
                      </a:pPr>
                      <a:r>
                        <a:t>In progress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B1020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5F3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B1020"/>
                          </a:solidFill>
                        </a:defRPr>
                      </a:pPr>
                      <a:r>
                        <a:t>Open agent runtime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0B981"/>
                          </a:solidFill>
                        </a:defRPr>
                      </a:pPr>
                      <a:r>
                        <a:t>✓ Apache 2.0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B1020"/>
                          </a:solidFill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B1020"/>
                          </a:solidFill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B1020"/>
                          </a:solidFill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</a:tr>
              <a:tr h="60089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B1020"/>
                          </a:solidFill>
                        </a:defRPr>
                      </a:pPr>
                      <a:r>
                        <a:t>Pricing model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0B981"/>
                          </a:solidFill>
                        </a:defRPr>
                      </a:pPr>
                      <a:r>
                        <a:t>Per-asset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B1020"/>
                          </a:solidFill>
                        </a:defRPr>
                      </a:pPr>
                      <a:r>
                        <a:t>Per-seat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B1020"/>
                          </a:solidFill>
                        </a:defRPr>
                      </a:pPr>
                      <a:r>
                        <a:t>Per-host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B1020"/>
                          </a:solidFill>
                        </a:defRPr>
                      </a:pPr>
                      <a:r>
                        <a:t>Per-seat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5F3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Atlas Cloud Console 4.0  |  Launch Day Briefing  |  May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64008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7</a:t>
            </a:r>
          </a:p>
        </p:txBody>
      </p:sp>
    </p:spTree>
  </p:cSld>
  <p:clrMapOvr>
    <a:masterClrMapping/>
  </p:clrMapOvr>
  <p:transition xmlns:ns0="http://schemas.microsoft.com/office/powerpoint/2010/main" ns0:dur="400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2D3EE"/>
                </a:solidFill>
                <a:latin typeface="Inter"/>
              </a:defRPr>
            </a:pPr>
            <a:r>
              <a:rPr/>
              <a:t>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0B1020"/>
                </a:solidFill>
              </a:defRPr>
            </a:pPr>
            <a:r>
              <a:rPr sz="3200" b="1" i="0">
                <a:latin typeface="Inter"/>
              </a:rPr>
              <a:t>Three editions. Pay for assets, not seats.</a:t>
            </a:r>
            <a:endParaRPr sz="3200" b="1" i="0">
              <a:latin typeface="Inter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4864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3703320" cy="4754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228600" dist="50800" dir="5400000">
              <a:srgbClr val="0B102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3200" bIns="203200">
            <a:normAutofit/>
          </a:bodyPr>
          <a:lstStyle/>
          <a:p>
            <a:pPr>
              <a:defRPr sz="1800" b="1">
                <a:solidFill>
                  <a:srgbClr val="94A3B8"/>
                </a:solidFill>
                <a:latin typeface="Inter"/>
              </a:defRPr>
            </a:pPr>
            <a:r>
              <a:rPr/>
              <a:t>Team</a:t>
            </a:r>
          </a:p>
          <a:p>
            <a:pPr>
              <a:spcBef>
                <a:spcPts val="400"/>
              </a:spcBef>
              <a:defRPr sz="2800" b="1">
                <a:solidFill>
                  <a:srgbClr val="0B1020"/>
                </a:solidFill>
                <a:latin typeface="Inter"/>
              </a:defRPr>
            </a:pPr>
            <a:r>
              <a:rPr/>
              <a:t>Free</a:t>
            </a:r>
          </a:p>
          <a:p>
            <a:pPr>
              <a:defRPr sz="1100">
                <a:solidFill>
                  <a:srgbClr val="6B7280"/>
                </a:solidFill>
                <a:latin typeface="Inter"/>
              </a:defRPr>
            </a:pPr>
            <a:r>
              <a:rPr/>
              <a:t>Up to 50 assets</a:t>
            </a:r>
          </a:p>
          <a:p>
            <a:pPr>
              <a:spcBef>
                <a:spcPts val="500"/>
              </a:spcBef>
              <a:defRPr sz="1100">
                <a:solidFill>
                  <a:srgbClr val="0B1020"/>
                </a:solidFill>
                <a:latin typeface="Inter"/>
              </a:defRPr>
            </a:pPr>
            <a:r>
              <a:rPr/>
              <a:t>✓  Single cloud</a:t>
            </a:r>
          </a:p>
          <a:p>
            <a:pPr>
              <a:spcBef>
                <a:spcPts val="500"/>
              </a:spcBef>
              <a:defRPr sz="1100">
                <a:solidFill>
                  <a:srgbClr val="0B1020"/>
                </a:solidFill>
                <a:latin typeface="Inter"/>
              </a:defRPr>
            </a:pPr>
            <a:r>
              <a:rPr/>
              <a:t>✓  Community policies</a:t>
            </a:r>
          </a:p>
          <a:p>
            <a:pPr>
              <a:spcBef>
                <a:spcPts val="500"/>
              </a:spcBef>
              <a:defRPr sz="1100">
                <a:solidFill>
                  <a:srgbClr val="0B1020"/>
                </a:solidFill>
                <a:latin typeface="Inter"/>
              </a:defRPr>
            </a:pPr>
            <a:r>
              <a:rPr/>
              <a:t>✓  Slack alerts</a:t>
            </a:r>
          </a:p>
          <a:p>
            <a:pPr>
              <a:spcBef>
                <a:spcPts val="500"/>
              </a:spcBef>
              <a:defRPr sz="1100">
                <a:solidFill>
                  <a:srgbClr val="0B1020"/>
                </a:solidFill>
                <a:latin typeface="Inter"/>
              </a:defRPr>
            </a:pPr>
            <a:r>
              <a:rPr/>
              <a:t>✓  Email support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54480"/>
            <a:ext cx="3703320" cy="4754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7C3AED"/>
            </a:solidFill>
          </a:ln>
          <a:effectLst>
            <a:outerShdw blurRad="228600" dist="50800" dir="5400000">
              <a:srgbClr val="0B102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3200" bIns="203200">
            <a:normAutofit/>
          </a:bodyPr>
          <a:lstStyle/>
          <a:p>
            <a:pPr>
              <a:defRPr sz="1800" b="1">
                <a:solidFill>
                  <a:srgbClr val="7C3AED"/>
                </a:solidFill>
                <a:latin typeface="Inter"/>
              </a:defRPr>
            </a:pPr>
            <a:r>
              <a:rPr/>
              <a:t>Business</a:t>
            </a:r>
          </a:p>
          <a:p>
            <a:pPr>
              <a:spcBef>
                <a:spcPts val="400"/>
              </a:spcBef>
              <a:defRPr sz="2800" b="1">
                <a:solidFill>
                  <a:srgbClr val="0B1020"/>
                </a:solidFill>
                <a:latin typeface="Inter"/>
              </a:defRPr>
            </a:pPr>
            <a:r>
              <a:rPr/>
              <a:t>$1.20</a:t>
            </a:r>
          </a:p>
          <a:p>
            <a:pPr>
              <a:defRPr sz="1100">
                <a:solidFill>
                  <a:srgbClr val="6B7280"/>
                </a:solidFill>
                <a:latin typeface="Inter"/>
              </a:defRPr>
            </a:pPr>
            <a:r>
              <a:rPr/>
              <a:t>per asset / month</a:t>
            </a:r>
          </a:p>
          <a:p>
            <a:pPr>
              <a:spcBef>
                <a:spcPts val="500"/>
              </a:spcBef>
              <a:defRPr sz="1100">
                <a:solidFill>
                  <a:srgbClr val="0B1020"/>
                </a:solidFill>
                <a:latin typeface="Inter"/>
              </a:defRPr>
            </a:pPr>
            <a:r>
              <a:rPr/>
              <a:t>✓  Multi-cloud</a:t>
            </a:r>
          </a:p>
          <a:p>
            <a:pPr>
              <a:spcBef>
                <a:spcPts val="500"/>
              </a:spcBef>
              <a:defRPr sz="1100">
                <a:solidFill>
                  <a:srgbClr val="0B1020"/>
                </a:solidFill>
                <a:latin typeface="Inter"/>
              </a:defRPr>
            </a:pPr>
            <a:r>
              <a:rPr/>
              <a:t>✓  FinOps dashboards</a:t>
            </a:r>
          </a:p>
          <a:p>
            <a:pPr>
              <a:spcBef>
                <a:spcPts val="500"/>
              </a:spcBef>
              <a:defRPr sz="1100">
                <a:solidFill>
                  <a:srgbClr val="0B1020"/>
                </a:solidFill>
                <a:latin typeface="Inter"/>
              </a:defRPr>
            </a:pPr>
            <a:r>
              <a:rPr/>
              <a:t>✓  Policy library + custom</a:t>
            </a:r>
          </a:p>
          <a:p>
            <a:pPr>
              <a:spcBef>
                <a:spcPts val="500"/>
              </a:spcBef>
              <a:defRPr sz="1100">
                <a:solidFill>
                  <a:srgbClr val="0B1020"/>
                </a:solidFill>
                <a:latin typeface="Inter"/>
              </a:defRPr>
            </a:pPr>
            <a:r>
              <a:rPr/>
              <a:t>✓  Autonomous remediation</a:t>
            </a:r>
          </a:p>
          <a:p>
            <a:pPr>
              <a:spcBef>
                <a:spcPts val="500"/>
              </a:spcBef>
              <a:defRPr sz="1100">
                <a:solidFill>
                  <a:srgbClr val="0B1020"/>
                </a:solidFill>
                <a:latin typeface="Inter"/>
              </a:defRPr>
            </a:pPr>
            <a:r>
              <a:rPr/>
              <a:t>✓  24×7 support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12279" y="141732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25400" lIns="50800" rIns="50800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/>
              <a:t>MOST POPULAR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554480"/>
            <a:ext cx="3703320" cy="4754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228600" dist="50800" dir="5400000">
              <a:srgbClr val="0B102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3200" bIns="203200">
            <a:normAutofit/>
          </a:bodyPr>
          <a:lstStyle/>
          <a:p>
            <a:pPr>
              <a:defRPr sz="1800" b="1">
                <a:solidFill>
                  <a:srgbClr val="22D3EE"/>
                </a:solidFill>
                <a:latin typeface="Inter"/>
              </a:defRPr>
            </a:pPr>
            <a:r>
              <a:rPr/>
              <a:t>Enterprise</a:t>
            </a:r>
          </a:p>
          <a:p>
            <a:pPr>
              <a:spcBef>
                <a:spcPts val="400"/>
              </a:spcBef>
              <a:defRPr sz="2800" b="1">
                <a:solidFill>
                  <a:srgbClr val="0B1020"/>
                </a:solidFill>
                <a:latin typeface="Inter"/>
              </a:defRPr>
            </a:pPr>
            <a:r>
              <a:rPr/>
              <a:t>Custom</a:t>
            </a:r>
          </a:p>
          <a:p>
            <a:pPr>
              <a:defRPr sz="1100">
                <a:solidFill>
                  <a:srgbClr val="6B7280"/>
                </a:solidFill>
                <a:latin typeface="Inter"/>
              </a:defRPr>
            </a:pPr>
            <a:r>
              <a:rPr/>
              <a:t>annual commitment</a:t>
            </a:r>
          </a:p>
          <a:p>
            <a:pPr>
              <a:spcBef>
                <a:spcPts val="500"/>
              </a:spcBef>
              <a:defRPr sz="1100">
                <a:solidFill>
                  <a:srgbClr val="0B1020"/>
                </a:solidFill>
                <a:latin typeface="Inter"/>
              </a:defRPr>
            </a:pPr>
            <a:r>
              <a:rPr/>
              <a:t>✓  Sovereign deploys</a:t>
            </a:r>
          </a:p>
          <a:p>
            <a:pPr>
              <a:spcBef>
                <a:spcPts val="500"/>
              </a:spcBef>
              <a:defRPr sz="1100">
                <a:solidFill>
                  <a:srgbClr val="0B1020"/>
                </a:solidFill>
                <a:latin typeface="Inter"/>
              </a:defRPr>
            </a:pPr>
            <a:r>
              <a:rPr/>
              <a:t>✓  FedRAMP High</a:t>
            </a:r>
          </a:p>
          <a:p>
            <a:pPr>
              <a:spcBef>
                <a:spcPts val="500"/>
              </a:spcBef>
              <a:defRPr sz="1100">
                <a:solidFill>
                  <a:srgbClr val="0B1020"/>
                </a:solidFill>
                <a:latin typeface="Inter"/>
              </a:defRPr>
            </a:pPr>
            <a:r>
              <a:rPr/>
              <a:t>✓  Dedicated SRE pod</a:t>
            </a:r>
          </a:p>
          <a:p>
            <a:pPr>
              <a:spcBef>
                <a:spcPts val="500"/>
              </a:spcBef>
              <a:defRPr sz="1100">
                <a:solidFill>
                  <a:srgbClr val="0B1020"/>
                </a:solidFill>
                <a:latin typeface="Inter"/>
              </a:defRPr>
            </a:pPr>
            <a:r>
              <a:rPr/>
              <a:t>✓  Audit logging + SOC integration</a:t>
            </a:r>
          </a:p>
          <a:p>
            <a:pPr>
              <a:spcBef>
                <a:spcPts val="500"/>
              </a:spcBef>
              <a:defRPr sz="1100">
                <a:solidFill>
                  <a:srgbClr val="0B1020"/>
                </a:solidFill>
                <a:latin typeface="Inter"/>
              </a:defRPr>
            </a:pPr>
            <a:r>
              <a:rPr/>
              <a:t>✓  99.99% SLA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Atlas Cloud Console 4.0  |  Launch Day Briefing  |  May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64008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8</a:t>
            </a:r>
          </a:p>
        </p:txBody>
      </p:sp>
    </p:spTree>
  </p:cSld>
  <p:clrMapOvr>
    <a:masterClrMapping/>
  </p:clrMapOvr>
  <p:transition xmlns:ns0="http://schemas.microsoft.com/office/powerpoint/2010/main" ns0:dur="400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97135" cy="3200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 i="1">
                <a:solidFill>
                  <a:srgbClr val="7C3AED"/>
                </a:solidFill>
                <a:latin typeface="Inter"/>
              </a:rPr>
              <a:t>“Atlas 4.0 is the first product that gave my SRE team back their weekends. We turned three pager-driven processes into one console-driven workflow.”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5120640"/>
            <a:ext cx="999713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>
                <a:solidFill>
                  <a:srgbClr val="6B7280"/>
                </a:solidFill>
                <a:latin typeface="Inter"/>
              </a:rPr>
              <a:t>— Director of Platform Engineering, Global Top-10 Bank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Atlas Cloud Console 4.0  |  Launch Day Briefing  |  May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64008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9</a:t>
            </a:r>
          </a:p>
        </p:txBody>
      </p:sp>
    </p:spTree>
  </p:cSld>
  <p:clrMapOvr>
    <a:masterClrMapping/>
  </p:clrMapOvr>
  <p:transition xmlns:ns0="http://schemas.microsoft.com/office/powerpoint/2010/main" ns0:dur="400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7C3AED"/>
              </a:gs>
              <a:gs pos="100000">
                <a:srgbClr val="0B1020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332720" cy="1645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rPr sz="6000" b="1" i="0">
                <a:latin typeface="Inter"/>
              </a:rPr>
              <a:t>Generally available May 14.</a:t>
            </a:r>
            <a:endParaRPr sz="6000" b="1" i="0">
              <a:latin typeface="Inte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4297680"/>
            <a:ext cx="1033272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>
                <a:solidFill>
                  <a:srgbClr val="22D3EE"/>
                </a:solidFill>
              </a:defRPr>
            </a:pPr>
            <a:r>
              <a:rPr sz="2200" b="0" i="0">
                <a:latin typeface="Inter"/>
              </a:rPr>
              <a:t>atlas.cloud/launch  |  partner-portal.atlas.cloud  |  #atlas-launch</a:t>
            </a:r>
            <a:endParaRPr sz="2200" b="0" i="0">
              <a:latin typeface="Inter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41848" y="4114800"/>
            <a:ext cx="91440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ns0="http://schemas.microsoft.com/office/powerpoint/2010/main" ns0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
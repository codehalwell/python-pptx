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Pipeline by stage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 actual ($M)</c:v>
                </c:pt>
              </c:strCache>
            </c:strRef>
          </c:tx>
          <c:spPr>
            <a:solidFill>
              <a:srgbClr val="0369A1"/>
            </a:solidFill>
          </c:spPr>
          <c:cat>
            <c:strRef>
              <c:f>Sheet1!$A$2:$A$6</c:f>
              <c:strCache>
                <c:ptCount val="5"/>
                <c:pt idx="0">
                  <c:v>Stage 1</c:v>
                </c:pt>
                <c:pt idx="1">
                  <c:v>Stage 2</c:v>
                </c:pt>
                <c:pt idx="2">
                  <c:v>Stage 3</c:v>
                </c:pt>
                <c:pt idx="3">
                  <c:v>Stage 4</c:v>
                </c:pt>
                <c:pt idx="4">
                  <c:v>Closed-Won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1820</c:v>
                </c:pt>
                <c:pt idx="1">
                  <c:v>1240</c:v>
                </c:pt>
                <c:pt idx="2">
                  <c:v>720</c:v>
                </c:pt>
                <c:pt idx="3">
                  <c:v>380</c:v>
                </c:pt>
                <c:pt idx="4">
                  <c:v>612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 entering ($M)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Sheet1!$A$2:$A$6</c:f>
              <c:strCache>
                <c:ptCount val="5"/>
                <c:pt idx="0">
                  <c:v>Stage 1</c:v>
                </c:pt>
                <c:pt idx="1">
                  <c:v>Stage 2</c:v>
                </c:pt>
                <c:pt idx="2">
                  <c:v>Stage 3</c:v>
                </c:pt>
                <c:pt idx="3">
                  <c:v>Stage 4</c:v>
                </c:pt>
                <c:pt idx="4">
                  <c:v>Closed-Won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2210</c:v>
                </c:pt>
                <c:pt idx="1">
                  <c:v>1480</c:v>
                </c:pt>
                <c:pt idx="2">
                  <c:v>880</c:v>
                </c:pt>
                <c:pt idx="3">
                  <c:v>440</c:v>
                </c:pt>
                <c:pt idx="4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Q1 bookings by segment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 FY27 bookings ($M)</c:v>
                </c:pt>
              </c:strCache>
            </c:strRef>
          </c:tx>
          <c:dPt>
            <c:idx val="0"/>
            <c:spPr>
              <a:solidFill>
                <a:srgbClr val="0369A1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cat>
            <c:strRef>
              <c:f>Sheet1!$A$2:$A$5</c:f>
              <c:strCache>
                <c:ptCount val="4"/>
                <c:pt idx="0">
                  <c:v>Software</c:v>
                </c:pt>
                <c:pt idx="1">
                  <c:v>Services</c:v>
                </c:pt>
                <c:pt idx="2">
                  <c:v>Hardware</c:v>
                </c:pt>
                <c:pt idx="3">
                  <c:v>Subscription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286</c:v>
                </c:pt>
                <c:pt idx="1">
                  <c:v>142</c:v>
                </c:pt>
                <c:pt idx="2">
                  <c:v>102</c:v>
                </c:pt>
                <c:pt idx="3">
                  <c:v>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Why we won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Wins</c:v>
                </c:pt>
              </c:strCache>
            </c:strRef>
          </c:tx>
          <c:dPt>
            <c:idx val="0"/>
            <c:spPr>
              <a:solidFill>
                <a:srgbClr val="0369A1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06B6D4"/>
              </a:solidFill>
            </c:spPr>
          </c:dPt>
          <c:cat>
            <c:strRef>
              <c:f>Sheet1!$A$2:$A$6</c:f>
              <c:strCache>
                <c:ptCount val="5"/>
                <c:pt idx="0">
                  <c:v>Product capability</c:v>
                </c:pt>
                <c:pt idx="1">
                  <c:v>Total cost</c:v>
                </c:pt>
                <c:pt idx="2">
                  <c:v>Existing relationship</c:v>
                </c:pt>
                <c:pt idx="3">
                  <c:v>Time to value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24</c:v>
                </c:pt>
                <c:pt idx="2">
                  <c:v>22</c:v>
                </c:pt>
                <c:pt idx="3">
                  <c:v>16</c:v>
                </c:pt>
                <c:pt idx="4">
                  <c:v>6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Why we lost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Losses</c:v>
                </c:pt>
              </c:strCache>
            </c:strRef>
          </c:tx>
          <c:dPt>
            <c:idx val="0"/>
            <c:spPr>
              <a:solidFill>
                <a:srgbClr val="0369A1"/>
              </a:solidFill>
            </c:spPr>
          </c:dPt>
          <c:dPt>
            <c:idx val="1"/>
            <c:spPr>
              <a:solidFill>
                <a:srgbClr val="16A34A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06B6D4"/>
              </a:solidFill>
            </c:spPr>
          </c:dPt>
          <c:cat>
            <c:strRef>
              <c:f>Sheet1!$A$2:$A$6</c:f>
              <c:strCache>
                <c:ptCount val="5"/>
                <c:pt idx="0">
                  <c:v>No decision</c:v>
                </c:pt>
                <c:pt idx="1">
                  <c:v>Price</c:v>
                </c:pt>
                <c:pt idx="2">
                  <c:v>Competitor capability</c:v>
                </c:pt>
                <c:pt idx="3">
                  <c:v>Implementation risk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24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Q2 forecast vs. plan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Bookings ($M)</c:v>
                </c:pt>
              </c:strCache>
            </c:strRef>
          </c:tx>
          <c:spPr>
            <a:solidFill>
              <a:srgbClr val="0369A1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 commit</c:v>
                </c:pt>
                <c:pt idx="2">
                  <c:v>Q2 best</c:v>
                </c:pt>
                <c:pt idx="3">
                  <c:v>Q2 stretch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612</c:v>
                </c:pt>
                <c:pt idx="1">
                  <c:v>632</c:v>
                </c:pt>
                <c:pt idx="2">
                  <c:v>674</c:v>
                </c:pt>
                <c:pt idx="3">
                  <c:v>718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 ($M)</c:v>
                </c:pt>
              </c:strCache>
            </c:strRef>
          </c:tx>
          <c:spPr>
            <a:solidFill>
              <a:srgbClr val="16A34A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 commit</c:v>
                </c:pt>
                <c:pt idx="2">
                  <c:v>Q2 best</c:v>
                </c:pt>
                <c:pt idx="3">
                  <c:v>Q2 stretch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588</c:v>
                </c:pt>
                <c:pt idx="1">
                  <c:v>620</c:v>
                </c:pt>
                <c:pt idx="2">
                  <c:v>620</c:v>
                </c:pt>
                <c:pt idx="3">
                  <c:v>620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0369A1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Inter"/>
              </a:defRPr>
            </a:pPr>
            <a:r>
              <a:rPr/>
              <a:t>Q1 FY27 QUARTERLY BUSINESS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Strong start.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A few hot spots to fix.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Q1 closed at 104% of plan with bookings of $612M. Software bookings led, EMEA needs attention, and the top of funnel is healthy heading into Q2.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Marcus Reed, SVP Worldwide Sales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Q1 FY27  •  CRO Staff Review  •  May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369A1"/>
                </a:solidFill>
                <a:latin typeface="Inter"/>
              </a:rPr>
              <a:t>Q1 FY27 —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369A1"/>
                </a:solidFill>
                <a:latin typeface="Inter"/>
              </a:rPr>
              <a:t>$612M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Bookings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369A1"/>
                </a:solidFill>
                <a:latin typeface="Inter"/>
              </a:rPr>
              <a:t>3.6×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Pipeline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369A1"/>
                </a:solidFill>
                <a:latin typeface="Inter"/>
              </a:rPr>
              <a:t>31%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Win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369A1"/>
                </a:solidFill>
                <a:latin typeface="Inter"/>
              </a:rPr>
              <a:t>92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Avg deal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TOP OF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Q2 pipeline coverage at 3.6× plan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0F9FF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0369A1"/>
                </a:solidFill>
                <a:latin typeface="Inter"/>
              </a:defRPr>
            </a:pPr>
            <a:r>
              <a:rPr/>
              <a:t>Pipeline takeaways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Coverage healthy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3.6× entering Q2 (target 3.0×).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Stage-2 conversion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Up 8 pts, driven by new MEDDPICC discipline.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Late-stage slippage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11% of stage-4 slipped from Q1; we expect 60% to close in Q2.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Software led; Services flat; Hardware soft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2194560"/>
          </a:xfrm>
          <a:prstGeom prst="roundRect">
            <a:avLst/>
          </a:prstGeom>
          <a:solidFill>
            <a:srgbClr val="F0F9FF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rPr/>
              <a:t>Software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/>
              <a:t>+19% YoY. Multi-year deal mix up 12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3931920"/>
            <a:ext cx="3108960" cy="2194560"/>
          </a:xfrm>
          <a:prstGeom prst="roundRect">
            <a:avLst/>
          </a:prstGeom>
          <a:solidFill>
            <a:srgbClr val="F0F9FF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rPr/>
              <a:t>Hardware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/>
              <a:t>−6% YoY. Two large datacenter cycles pushed to Q3.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REGIONAL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Region scorecard — green / amber / red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  <a:gridCol w="1463040"/>
                <a:gridCol w="1371600"/>
                <a:gridCol w="1280160"/>
              </a:tblGrid>
              <a:tr h="600891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Region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Actual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vs. Plan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Pipeline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Win rate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North America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$248M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$268M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+8.1%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3.9×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TRACK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EMEA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$162M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$148M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−8.6%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3.1×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OFF PLAN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DC262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APAC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$108M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$112M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+3.7%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3.5×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TRACK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LATAM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$42M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$44M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+4.8%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3.6×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TRACK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Public sector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−21.4%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2.4×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22%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OFF PLAN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DC2626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Strategic / Global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$28M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$18M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C2626"/>
                          </a:solidFill>
                        </a:defRPr>
                      </a:pPr>
                      <a:r>
                        <a:t>−35.7%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1.9×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AT RISK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Q2 MUST-WINS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Top 10 deals to land in Q2 — $214M total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554480"/>
                <a:gridCol w="1463040"/>
                <a:gridCol w="1554480"/>
                <a:gridCol w="2011680"/>
              </a:tblGrid>
              <a:tr h="39901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Account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Region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ACV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Close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0369A1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Polaris Capital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Stage 4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$32M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May 18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T. Singh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Atlas Air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Stage 4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$28M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May 22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R. Kim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ENGIE Renouvelables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EMEA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369A1"/>
                          </a:solidFill>
                        </a:defRPr>
                      </a:pPr>
                      <a:r>
                        <a:t>Stage 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$24M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02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M. Roche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Bharti Industries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APAC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Stage 4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$22M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May 28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P. Singh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Aurora Mobility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369A1"/>
                          </a:solidFill>
                        </a:defRPr>
                      </a:pPr>
                      <a:r>
                        <a:t>Stage 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$21M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09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R. Kim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MunichRe Reinsurance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EMEA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369A1"/>
                          </a:solidFill>
                        </a:defRPr>
                      </a:pPr>
                      <a:r>
                        <a:t>Stage 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$19M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18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L. Weiss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Stellar Logistics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EMEA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369A1"/>
                          </a:solidFill>
                        </a:defRPr>
                      </a:pPr>
                      <a:r>
                        <a:t>Stage 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$18M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22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L. Weiss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Helios Power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LATAM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Stage 4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$17M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May 30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C. Mendes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Bay Health Network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Stage 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$17M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26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T. Singh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Frontier Materials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369A1"/>
                          </a:solidFill>
                        </a:defRPr>
                      </a:pPr>
                      <a:r>
                        <a:t>Stage 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$16M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Jun 27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R. Kim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9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WIN/LOSS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Why we won — and why we lost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12648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Q2 commit, best-case, and stretch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Inter"/>
              </a:defRPr>
            </a:pPr>
            <a:r>
              <a:rPr/>
              <a:t>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I need from this room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/>
          <a:lstStyle/>
          <a:p>
            <a:pPr>
              <a:defRPr sz="1800" b="1">
                <a:solidFill>
                  <a:srgbClr val="0369A1"/>
                </a:solidFill>
                <a:latin typeface="Inter"/>
              </a:defRPr>
            </a:pPr>
            <a:r>
              <a:rPr/>
              <a:t>EMEA leadership change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rPr/>
              <a:t>Decision on the EMEA AVP role by May 22 — slipping monthly.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/>
          <a:lstStyle/>
          <a:p>
            <a:pPr>
              <a:defRPr sz="1800" b="1">
                <a:solidFill>
                  <a:srgbClr val="0369A1"/>
                </a:solidFill>
                <a:latin typeface="Inter"/>
              </a:defRPr>
            </a:pPr>
            <a:r>
              <a:rPr/>
              <a:t>Pricing exception authority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rPr/>
              <a:t>Increase regional pricing committee threshold to $5M.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/>
          <a:lstStyle/>
          <a:p>
            <a:pPr>
              <a:defRPr sz="1800" b="1">
                <a:solidFill>
                  <a:srgbClr val="0369A1"/>
                </a:solidFill>
                <a:latin typeface="Inter"/>
              </a:defRPr>
            </a:pPr>
            <a:r>
              <a:rPr/>
              <a:t>Specialist overlay for Strategic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rPr/>
              <a:t>Three named overlays for Top 25 strategic accounts in Q2.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/>
          <a:lstStyle/>
          <a:p>
            <a:pPr>
              <a:defRPr sz="1800" b="1">
                <a:solidFill>
                  <a:srgbClr val="0369A1"/>
                </a:solidFill>
                <a:latin typeface="Inter"/>
              </a:defRPr>
            </a:pPr>
            <a:r>
              <a:rPr/>
              <a:t>Marketing air-cover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rPr/>
              <a:t>Two demand-gen waves in EMEA mid-market (€800k spend).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Q1 FY27 QBR  |  Sales Operations  | 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369A1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Q2 — pull forward, push higher.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16A34A"/>
                </a:solidFill>
              </a:defRPr>
            </a:pPr>
            <a:r>
              <a:rPr sz="2200" b="0" i="0">
                <a:latin typeface="Inter"/>
              </a:rPr>
              <a:t>Plan: $674M bookings  •  4.0× pipeline coverage entering Q3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
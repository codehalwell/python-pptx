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Revenue ($M)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FY25</c:v>
                </c:pt>
              </c:strCache>
            </c:strRef>
          </c:tx>
          <c:spPr>
            <a:solidFill>
              <a:srgbClr val="0B2447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4180</c:v>
                </c:pt>
                <c:pt idx="1">
                  <c:v>4290</c:v>
                </c:pt>
                <c:pt idx="2">
                  <c:v>4380</c:v>
                </c:pt>
                <c:pt idx="3">
                  <c:v>4408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FY26</c:v>
                </c:pt>
              </c:strCache>
            </c:strRef>
          </c:tx>
          <c:spPr>
            <a:solidFill>
              <a:srgbClr val="C9A227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4520</c:v>
                </c:pt>
                <c:pt idx="1">
                  <c:v>4660</c:v>
                </c:pt>
                <c:pt idx="2">
                  <c:v>4720</c:v>
                </c:pt>
                <c:pt idx="3">
                  <c:v>4822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Q4 segment revenue ($M)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($M)</c:v>
                </c:pt>
              </c:strCache>
            </c:strRef>
          </c:tx>
          <c:dPt>
            <c:idx val="0"/>
            <c:spPr>
              <a:solidFill>
                <a:srgbClr val="0B2447"/>
              </a:solidFill>
            </c:spPr>
          </c:dPt>
          <c:dPt>
            <c:idx val="1"/>
            <c:spPr>
              <a:solidFill>
                <a:srgbClr val="C9A227"/>
              </a:solidFill>
            </c:spPr>
          </c:dPt>
          <c:dPt>
            <c:idx val="2"/>
            <c:spPr>
              <a:solidFill>
                <a:srgbClr val="1B7F3F"/>
              </a:solidFill>
            </c:spPr>
          </c:dPt>
          <c:dPt>
            <c:idx val="3"/>
            <c:spPr>
              <a:solidFill>
                <a:srgbClr val="3B82F6"/>
              </a:solidFill>
            </c:spPr>
          </c:dPt>
          <c:cat>
            <c:strRef>
              <c:f>Sheet1!$A$2:$A$5</c:f>
              <c:strCache>
                <c:ptCount val="4"/>
                <c:pt idx="0">
                  <c:v>Industrial Equipment</c:v>
                </c:pt>
                <c:pt idx="1">
                  <c:v>Industrial Software</c:v>
                </c:pt>
                <c:pt idx="2">
                  <c:v>Aftermarket Services</c:v>
                </c:pt>
                <c:pt idx="3">
                  <c:v>Energy Solutions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1980</c:v>
                </c:pt>
                <c:pt idx="1">
                  <c:v>1240</c:v>
                </c:pt>
                <c:pt idx="2">
                  <c:v>920</c:v>
                </c:pt>
                <c:pt idx="3">
                  <c:v>682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Margin progression FY26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(%)</c:v>
                </c:pt>
              </c:strCache>
            </c:strRef>
          </c:tx>
          <c:spPr>
            <a:solidFill>
              <a:srgbClr val="0B2447"/>
            </a:solidFill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47.2</c:v>
                </c:pt>
                <c:pt idx="1">
                  <c:v>47.9</c:v>
                </c:pt>
                <c:pt idx="2">
                  <c:v>48.6</c:v>
                </c:pt>
                <c:pt idx="3">
                  <c:v>49.1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Operating margin (%)</c:v>
                </c:pt>
              </c:strCache>
            </c:strRef>
          </c:tx>
          <c:spPr>
            <a:solidFill>
              <a:srgbClr val="C9A227"/>
            </a:solidFill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24.0</c:v>
                </c:pt>
                <c:pt idx="1">
                  <c:v>25.5</c:v>
                </c:pt>
                <c:pt idx="2">
                  <c:v>26.4</c:v>
                </c:pt>
                <c:pt idx="3">
                  <c:v>27.1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Free cash flow margin (%)</c:v>
                </c:pt>
              </c:strCache>
            </c:strRef>
          </c:tx>
          <c:spPr>
            <a:solidFill>
              <a:srgbClr val="1B7F3F"/>
            </a:solidFill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16.8</c:v>
                </c:pt>
                <c:pt idx="1">
                  <c:v>18.0</c:v>
                </c:pt>
                <c:pt idx="2">
                  <c:v>19.2</c:v>
                </c:pt>
                <c:pt idx="3">
                  <c:v>23.4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t>Capital deployed FY26 ($M)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FY26 ($M)</c:v>
                </c:pt>
              </c:strCache>
            </c:strRef>
          </c:tx>
          <c:dPt>
            <c:idx val="0"/>
            <c:spPr>
              <a:solidFill>
                <a:srgbClr val="0B2447"/>
              </a:solidFill>
            </c:spPr>
          </c:dPt>
          <c:dPt>
            <c:idx val="1"/>
            <c:spPr>
              <a:solidFill>
                <a:srgbClr val="C9A227"/>
              </a:solidFill>
            </c:spPr>
          </c:dPt>
          <c:dPt>
            <c:idx val="2"/>
            <c:spPr>
              <a:solidFill>
                <a:srgbClr val="1B7F3F"/>
              </a:solidFill>
            </c:spPr>
          </c:dPt>
          <c:dPt>
            <c:idx val="3"/>
            <c:spPr>
              <a:solidFill>
                <a:srgbClr val="3B82F6"/>
              </a:solidFill>
            </c:spPr>
          </c:dPt>
          <c:dPt>
            <c:idx val="4"/>
            <c:spPr>
              <a:solidFill>
                <a:srgbClr val="94A3B8"/>
              </a:solidFill>
            </c:spPr>
          </c:dPt>
          <c:cat>
            <c:strRef>
              <c:f>Sheet1!$A$2:$A$6</c:f>
              <c:strCache>
                <c:ptCount val="5"/>
                <c:pt idx="0">
                  <c:v>Buybacks</c:v>
                </c:pt>
                <c:pt idx="1">
                  <c:v>Dividends</c:v>
                </c:pt>
                <c:pt idx="2">
                  <c:v>Tuck-in M&amp;A</c:v>
                </c:pt>
                <c:pt idx="3">
                  <c:v>R&amp;D capex</c:v>
                </c:pt>
                <c:pt idx="4">
                  <c:v>Debt paydown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1820</c:v>
                </c:pt>
                <c:pt idx="1">
                  <c:v>940</c:v>
                </c:pt>
                <c:pt idx="2">
                  <c:v>410</c:v>
                </c:pt>
                <c:pt idx="3">
                  <c:v>280</c:v>
                </c:pt>
                <c:pt idx="4">
                  <c:v>150</c:v>
                </c:pt>
              </c:numCache>
            </c:numRef>
          </c:val>
        </c:ser>
      </c:pieChart>
    </c:plotArea>
    <c:legend>
      <c:legendPos val="r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gradFill rotWithShape="1">
            <a:gsLst>
              <a:gs pos="0">
                <a:srgbClr val="0B2447"/>
              </a:gs>
              <a:gs pos="100000">
                <a:srgbClr val="0F172A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0" y="0"/>
            <a:ext cx="109728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4206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C9A227"/>
                </a:solidFill>
                <a:latin typeface="Inter"/>
              </a:defRPr>
            </a:pPr>
            <a:r>
              <a:rPr/>
              <a:t>Q4 FY26 EARNINGS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4297680" cy="2926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rPr sz="4400" b="1" i="0">
                <a:latin typeface="Inter"/>
              </a:rPr>
              <a:t>Disciplined growth.</a:t>
            </a:r>
            <a:endParaRPr sz="4400" b="1" i="0">
              <a:latin typeface="Inter"/>
            </a:endParaRPr>
          </a:p>
          <a:p>
            <a:r>
              <a:rPr sz="4400" b="1" i="0">
                <a:latin typeface="Inter"/>
              </a:rPr>
              <a:t>Durable margin.</a:t>
            </a:r>
            <a:endParaRPr sz="4400" b="1" i="0">
              <a:latin typeface="Inter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0" y="2377440"/>
            <a:ext cx="6217920" cy="21945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F172A"/>
                </a:solidFill>
              </a:defRPr>
            </a:pPr>
            <a:r>
              <a:rPr sz="2800" b="0" i="0">
                <a:latin typeface="Inter"/>
              </a:rPr>
              <a:t>A review of fourth-quarter and full-year operating results, capital deployment, and FY27 outlook.</a:t>
            </a:r>
            <a:endParaRPr sz="2800" b="0" i="0">
              <a:latin typeface="Inter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0" y="5303520"/>
            <a:ext cx="6217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Inter"/>
              </a:defRPr>
            </a:pPr>
            <a:r>
              <a:rPr/>
              <a:t>Helen Vance, Chief Financial Officer</a:t>
            </a:r>
          </a:p>
          <a:p>
            <a:pPr>
              <a:defRPr sz="1200">
                <a:solidFill>
                  <a:srgbClr val="475569"/>
                </a:solidFill>
                <a:latin typeface="Inter"/>
              </a:defRPr>
            </a:pPr>
            <a:r>
              <a:rPr/>
              <a:t>February 12, 2026  •  Investor Relations Call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C9A227"/>
                </a:solidFill>
                <a:latin typeface="Inter"/>
              </a:defRPr>
            </a:pPr>
            <a:r>
              <a:rPr/>
              <a:t>TODAY'S SESSION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106424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F172A"/>
                </a:solidFill>
              </a:defRPr>
            </a:pPr>
            <a:r>
              <a:rPr sz="3200" b="1" i="0">
                <a:latin typeface="Inter"/>
              </a:rPr>
              <a:t>Agenda</a:t>
            </a:r>
            <a:endParaRPr sz="3200" b="1" i="0">
              <a:latin typeface="Int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548640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1554480"/>
            <a:ext cx="640080" cy="640080"/>
          </a:xfrm>
          <a:prstGeom prst="ellipse">
            <a:avLst/>
          </a:prstGeom>
          <a:solidFill>
            <a:srgbClr val="0B24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Inter"/>
              </a:defRPr>
            </a:pPr>
            <a:r>
              <a:rPr/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554480"/>
            <a:ext cx="10058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Inter"/>
              </a:defRPr>
            </a:pPr>
            <a:r>
              <a:rPr/>
              <a:t>Quarterly summary</a:t>
            </a:r>
          </a:p>
          <a:p>
            <a:pPr>
              <a:defRPr sz="1300">
                <a:solidFill>
                  <a:srgbClr val="475569"/>
                </a:solidFill>
                <a:latin typeface="Inter"/>
              </a:defRPr>
            </a:pPr>
            <a:r>
              <a:rPr/>
              <a:t>Top-line, margin, cash flow.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468880"/>
            <a:ext cx="640080" cy="640080"/>
          </a:xfrm>
          <a:prstGeom prst="ellipse">
            <a:avLst/>
          </a:prstGeom>
          <a:solidFill>
            <a:srgbClr val="0B24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Inter"/>
              </a:defRPr>
            </a:pPr>
            <a:r>
              <a:rPr/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80"/>
            <a:ext cx="10058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Inter"/>
              </a:defRPr>
            </a:pPr>
            <a:r>
              <a:rPr/>
              <a:t>Segment results</a:t>
            </a:r>
          </a:p>
          <a:p>
            <a:pPr>
              <a:defRPr sz="1300">
                <a:solidFill>
                  <a:srgbClr val="475569"/>
                </a:solidFill>
                <a:latin typeface="Inter"/>
              </a:defRPr>
            </a:pPr>
            <a:r>
              <a:rPr/>
              <a:t>Industrial, Software, Services.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383280"/>
            <a:ext cx="640080" cy="640080"/>
          </a:xfrm>
          <a:prstGeom prst="ellipse">
            <a:avLst/>
          </a:prstGeom>
          <a:solidFill>
            <a:srgbClr val="0B24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Inter"/>
              </a:defRPr>
            </a:pPr>
            <a:r>
              <a:rPr/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3383280"/>
            <a:ext cx="10058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Inter"/>
              </a:defRPr>
            </a:pPr>
            <a:r>
              <a:rPr/>
              <a:t>Capital allocation</a:t>
            </a:r>
          </a:p>
          <a:p>
            <a:pPr>
              <a:defRPr sz="1300">
                <a:solidFill>
                  <a:srgbClr val="475569"/>
                </a:solidFill>
                <a:latin typeface="Inter"/>
              </a:defRPr>
            </a:pPr>
            <a:r>
              <a:rPr/>
              <a:t>Buybacks, dividend, M&amp;A.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4297680"/>
            <a:ext cx="640080" cy="640080"/>
          </a:xfrm>
          <a:prstGeom prst="ellipse">
            <a:avLst/>
          </a:prstGeom>
          <a:solidFill>
            <a:srgbClr val="0B24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Inter"/>
              </a:defRPr>
            </a:pPr>
            <a:r>
              <a:rPr/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4297680"/>
            <a:ext cx="10058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Inter"/>
              </a:defRPr>
            </a:pPr>
            <a:r>
              <a:rPr/>
              <a:t>FY27 guidance</a:t>
            </a:r>
          </a:p>
          <a:p>
            <a:pPr>
              <a:defRPr sz="1300">
                <a:solidFill>
                  <a:srgbClr val="475569"/>
                </a:solidFill>
                <a:latin typeface="Inter"/>
              </a:defRPr>
            </a:pPr>
            <a:r>
              <a:rPr/>
              <a:t>Revenue, margin, capex envelope.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5212080"/>
            <a:ext cx="640080" cy="640080"/>
          </a:xfrm>
          <a:prstGeom prst="ellipse">
            <a:avLst/>
          </a:prstGeom>
          <a:solidFill>
            <a:srgbClr val="0B24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Inter"/>
              </a:defRPr>
            </a:pPr>
            <a:r>
              <a:rPr/>
              <a:t>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5212080"/>
            <a:ext cx="10058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Inter"/>
              </a:defRPr>
            </a:pPr>
            <a:r>
              <a:rPr/>
              <a:t>Risk landscape</a:t>
            </a:r>
          </a:p>
          <a:p>
            <a:pPr>
              <a:defRPr sz="1300">
                <a:solidFill>
                  <a:srgbClr val="475569"/>
                </a:solidFill>
                <a:latin typeface="Inter"/>
              </a:defRPr>
            </a:pPr>
            <a:r>
              <a:rPr/>
              <a:t>FX, supply, regulatory, cyber.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B24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Inter"/>
              </a:defRPr>
            </a:pPr>
            <a:r>
              <a:rPr/>
              <a:t>Confidential  |  Northwind Industries, Inc.  |  Q4 FY26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475569"/>
                </a:solidFill>
                <a:latin typeface="Inter"/>
              </a:defRPr>
            </a:pPr>
            <a:r>
              <a:rPr/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0B2447"/>
                </a:solidFill>
                <a:latin typeface="Inter"/>
              </a:rPr>
              <a:t>Q4 FY26 — at a glance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2602153" cy="1737360"/>
          </a:xfrm>
          <a:prstGeom prst="roundRect">
            <a:avLst/>
          </a:prstGeom>
          <a:solidFill>
            <a:srgbClr val="F4F5F7"/>
          </a:solidFill>
          <a:ln w="9525">
            <a:solidFill>
              <a:srgbClr val="475569"/>
            </a:solidFill>
          </a:ln>
          <a:effectLst>
            <a:outerShdw dist="508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874520"/>
            <a:ext cx="2602153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0B2447"/>
                </a:solidFill>
                <a:latin typeface="Inter"/>
              </a:rPr>
              <a:t>$4.82B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0"/>
            <a:ext cx="260215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>
                <a:solidFill>
                  <a:srgbClr val="475569"/>
                </a:solidFill>
                <a:latin typeface="Inter"/>
              </a:rPr>
              <a:t>Revenue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2602153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B7F3F"/>
                </a:solidFill>
                <a:latin typeface="Inter"/>
              </a:rPr>
              <a:t>+9%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79393" y="1645920"/>
            <a:ext cx="2602153" cy="1737360"/>
          </a:xfrm>
          <a:prstGeom prst="roundRect">
            <a:avLst/>
          </a:prstGeom>
          <a:solidFill>
            <a:srgbClr val="F4F5F7"/>
          </a:solidFill>
          <a:ln w="9525">
            <a:solidFill>
              <a:srgbClr val="475569"/>
            </a:solidFill>
          </a:ln>
          <a:effectLst>
            <a:outerShdw dist="508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379393" y="1874520"/>
            <a:ext cx="2602153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0B2447"/>
                </a:solidFill>
                <a:latin typeface="Inter"/>
              </a:rPr>
              <a:t>27.1%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79393" y="2651760"/>
            <a:ext cx="260215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>
                <a:solidFill>
                  <a:srgbClr val="475569"/>
                </a:solidFill>
                <a:latin typeface="Inter"/>
              </a:rPr>
              <a:t>Operating margin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9393" y="3017520"/>
            <a:ext cx="2602153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B7F3F"/>
                </a:solidFill>
                <a:latin typeface="Inter"/>
              </a:rPr>
              <a:t>+2%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0146" y="1645920"/>
            <a:ext cx="2602153" cy="1737360"/>
          </a:xfrm>
          <a:prstGeom prst="roundRect">
            <a:avLst/>
          </a:prstGeom>
          <a:solidFill>
            <a:srgbClr val="F4F5F7"/>
          </a:solidFill>
          <a:ln w="9525">
            <a:solidFill>
              <a:srgbClr val="475569"/>
            </a:solidFill>
          </a:ln>
          <a:effectLst>
            <a:outerShdw dist="508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210146" y="1874520"/>
            <a:ext cx="2602153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0B2447"/>
                </a:solidFill>
                <a:latin typeface="Inter"/>
              </a:rPr>
              <a:t>$1.13B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0146" y="2651760"/>
            <a:ext cx="260215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>
                <a:solidFill>
                  <a:srgbClr val="475569"/>
                </a:solidFill>
                <a:latin typeface="Inter"/>
              </a:rPr>
              <a:t>Free cash flow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0146" y="3017520"/>
            <a:ext cx="2602153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B7F3F"/>
                </a:solidFill>
                <a:latin typeface="Inter"/>
              </a:rPr>
              <a:t>+17%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40899" y="1645920"/>
            <a:ext cx="2602153" cy="1737360"/>
          </a:xfrm>
          <a:prstGeom prst="roundRect">
            <a:avLst/>
          </a:prstGeom>
          <a:solidFill>
            <a:srgbClr val="F4F5F7"/>
          </a:solidFill>
          <a:ln w="9525">
            <a:solidFill>
              <a:srgbClr val="475569"/>
            </a:solidFill>
          </a:ln>
          <a:effectLst>
            <a:outerShdw dist="508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040899" y="1874520"/>
            <a:ext cx="2602153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0B2447"/>
                </a:solidFill>
                <a:latin typeface="Inter"/>
              </a:rPr>
              <a:t>$3.42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40899" y="2651760"/>
            <a:ext cx="260215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>
                <a:solidFill>
                  <a:srgbClr val="475569"/>
                </a:solidFill>
                <a:latin typeface="Inter"/>
              </a:rPr>
              <a:t>Diluted EPS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40899" y="3017520"/>
            <a:ext cx="2602153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B7F3F"/>
                </a:solidFill>
                <a:latin typeface="Inter"/>
              </a:rPr>
              <a:t>+12%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B24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Inter"/>
              </a:defRPr>
            </a:pPr>
            <a:r>
              <a:rPr/>
              <a:t>Confidential  |  Northwind Industries, Inc.  |  Q4 FY26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475569"/>
                </a:solidFill>
                <a:latin typeface="Inter"/>
              </a:defRPr>
            </a:pPr>
            <a:r>
              <a:rPr/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C9A227"/>
                </a:solidFill>
                <a:latin typeface="Inter"/>
              </a:defRPr>
            </a:pPr>
            <a:r>
              <a:rPr/>
              <a:t>TOP-LINE GROWTH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F172A"/>
                </a:solidFill>
              </a:defRPr>
            </a:pPr>
            <a:r>
              <a:rPr sz="3200" b="1" i="0">
                <a:latin typeface="Inter"/>
              </a:rPr>
              <a:t>Revenue rose 9.4% YoY in Q4</a:t>
            </a:r>
            <a:endParaRPr sz="3200" b="1" i="0">
              <a:latin typeface="Int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554480"/>
          <a:ext cx="777240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595360" y="1554480"/>
            <a:ext cx="3108960" cy="4572000"/>
          </a:xfrm>
          <a:prstGeom prst="roundRect">
            <a:avLst/>
          </a:prstGeom>
          <a:solidFill>
            <a:srgbClr val="F4F5F7"/>
          </a:solidFill>
          <a:ln>
            <a:noFill/>
          </a:ln>
          <a:effectLst>
            <a:outerShdw blurRad="228600" dist="50800" dir="540000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177800" bIns="177800">
            <a:noAutofit/>
          </a:bodyPr>
          <a:lstStyle/>
          <a:p>
            <a:pPr>
              <a:defRPr sz="1000" b="1">
                <a:solidFill>
                  <a:srgbClr val="C9A227"/>
                </a:solidFill>
                <a:latin typeface="Inter"/>
              </a:defRPr>
            </a:pPr>
            <a:r>
              <a:rPr/>
              <a:t>DRIVERS</a:t>
            </a:r>
          </a:p>
          <a:p>
            <a:pPr>
              <a:spcBef>
                <a:spcPts val="600"/>
              </a:spcBef>
              <a:defRPr sz="2200" b="1">
                <a:solidFill>
                  <a:srgbClr val="0F172A"/>
                </a:solidFill>
                <a:latin typeface="Inter"/>
              </a:defRPr>
            </a:pPr>
            <a:r>
              <a:rPr/>
              <a:t>Software ARR +24%</a:t>
            </a:r>
          </a:p>
          <a:p>
            <a:pPr>
              <a:spcBef>
                <a:spcPts val="600"/>
              </a:spcBef>
              <a:defRPr sz="1300" b="0">
                <a:solidFill>
                  <a:srgbClr val="475569"/>
                </a:solidFill>
                <a:latin typeface="Inter"/>
              </a:defRPr>
            </a:pPr>
            <a:r>
              <a:rPr/>
              <a:t>Industrial Software crossed $1B in run-rate ARR for the first time, contributing 290 bps of total growth.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B24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Inter"/>
              </a:defRPr>
            </a:pPr>
            <a:r>
              <a:rPr/>
              <a:t>Confidential  |  Northwind Industries, Inc.  |  Q4 FY26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475569"/>
                </a:solidFill>
                <a:latin typeface="Inter"/>
              </a:defRPr>
            </a:pPr>
            <a:r>
              <a:rPr/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C9A227"/>
                </a:solidFill>
                <a:latin typeface="Inter"/>
              </a:defRPr>
            </a:pPr>
            <a:r>
              <a:rPr/>
              <a:t>SEGMENT 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F172A"/>
                </a:solidFill>
              </a:defRPr>
            </a:pPr>
            <a:r>
              <a:rPr sz="3200" b="1" i="0">
                <a:latin typeface="Inter"/>
              </a:rPr>
              <a:t>Software led growth; Industrial held margin</a:t>
            </a:r>
            <a:endParaRPr sz="3200" b="1" i="0">
              <a:latin typeface="Int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554480"/>
          <a:ext cx="777240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595360" y="1554480"/>
            <a:ext cx="3108960" cy="2194560"/>
          </a:xfrm>
          <a:prstGeom prst="roundRect">
            <a:avLst/>
          </a:prstGeom>
          <a:solidFill>
            <a:srgbClr val="F4F5F7"/>
          </a:solidFill>
          <a:ln>
            <a:noFill/>
          </a:ln>
          <a:effectLst>
            <a:outerShdw blurRad="228600" dist="50800" dir="540000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177800" bIns="177800">
            <a:noAutofit/>
          </a:bodyPr>
          <a:lstStyle/>
          <a:p>
            <a:pPr>
              <a:defRPr sz="1000" b="1">
                <a:solidFill>
                  <a:srgbClr val="C9A227"/>
                </a:solidFill>
                <a:latin typeface="Inter"/>
              </a:defRPr>
            </a:pPr>
            <a:r>
              <a:rPr/>
              <a:t>HIGHLIGHT</a:t>
            </a:r>
          </a:p>
          <a:p>
            <a:pPr>
              <a:spcBef>
                <a:spcPts val="600"/>
              </a:spcBef>
              <a:defRPr sz="2000" b="1">
                <a:solidFill>
                  <a:srgbClr val="0F172A"/>
                </a:solidFill>
                <a:latin typeface="Inter"/>
              </a:defRPr>
            </a:pPr>
            <a:r>
              <a:rPr/>
              <a:t>+24% ARR</a:t>
            </a:r>
          </a:p>
          <a:p>
            <a:pPr>
              <a:spcBef>
                <a:spcPts val="600"/>
              </a:spcBef>
              <a:defRPr sz="1300" b="0">
                <a:solidFill>
                  <a:srgbClr val="475569"/>
                </a:solidFill>
                <a:latin typeface="Inter"/>
              </a:defRPr>
            </a:pPr>
            <a:r>
              <a:rPr/>
              <a:t>Software set a record with 24% ARR growth and 92% GRR.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5360" y="3931920"/>
            <a:ext cx="3108960" cy="2194560"/>
          </a:xfrm>
          <a:prstGeom prst="roundRect">
            <a:avLst/>
          </a:prstGeom>
          <a:solidFill>
            <a:srgbClr val="F4F5F7"/>
          </a:solidFill>
          <a:ln>
            <a:noFill/>
          </a:ln>
          <a:effectLst>
            <a:outerShdw blurRad="228600" dist="50800" dir="540000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177800" bIns="177800">
            <a:noAutofit/>
          </a:bodyPr>
          <a:lstStyle/>
          <a:p>
            <a:pPr>
              <a:defRPr sz="1000" b="1">
                <a:solidFill>
                  <a:srgbClr val="C9A227"/>
                </a:solidFill>
                <a:latin typeface="Inter"/>
              </a:defRPr>
            </a:pPr>
            <a:r>
              <a:rPr/>
              <a:t>WATCH</a:t>
            </a:r>
          </a:p>
          <a:p>
            <a:pPr>
              <a:spcBef>
                <a:spcPts val="600"/>
              </a:spcBef>
              <a:defRPr sz="2000" b="1">
                <a:solidFill>
                  <a:srgbClr val="0F172A"/>
                </a:solidFill>
                <a:latin typeface="Inter"/>
              </a:defRPr>
            </a:pPr>
            <a:r>
              <a:rPr/>
              <a:t>Energy −3% YoY</a:t>
            </a:r>
          </a:p>
          <a:p>
            <a:pPr>
              <a:spcBef>
                <a:spcPts val="600"/>
              </a:spcBef>
              <a:defRPr sz="1300" b="0">
                <a:solidFill>
                  <a:srgbClr val="475569"/>
                </a:solidFill>
                <a:latin typeface="Inter"/>
              </a:defRPr>
            </a:pPr>
            <a:r>
              <a:rPr/>
              <a:t>Lower oil-and-gas capex; offset by service backlog +18%.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B24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Inter"/>
              </a:defRPr>
            </a:pPr>
            <a:r>
              <a:rPr/>
              <a:t>Confidential  |  Northwind Industries, Inc.  |  Q4 FY26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475569"/>
                </a:solidFill>
                <a:latin typeface="Inter"/>
              </a:defRPr>
            </a:pPr>
            <a:r>
              <a:rPr/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C9A227"/>
                </a:solidFill>
                <a:latin typeface="Inter"/>
              </a:defRPr>
            </a:pPr>
            <a:r>
              <a:rPr/>
              <a:t>PROFITABILITY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F172A"/>
                </a:solidFill>
              </a:defRPr>
            </a:pPr>
            <a:r>
              <a:rPr sz="3200" b="1" i="0">
                <a:latin typeface="Inter"/>
              </a:rPr>
              <a:t>Operating margin expanded 210 bps in FY26</a:t>
            </a:r>
            <a:endParaRPr sz="3200" b="1" i="0">
              <a:latin typeface="Int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554480"/>
          <a:ext cx="1106424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B24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Inter"/>
              </a:defRPr>
            </a:pPr>
            <a:r>
              <a:rPr/>
              <a:t>Confidential  |  Northwind Industries, Inc.  |  Q4 FY26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475569"/>
                </a:solidFill>
                <a:latin typeface="Inter"/>
              </a:defRPr>
            </a:pPr>
            <a:r>
              <a:rPr/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C9A227"/>
                </a:solidFill>
                <a:latin typeface="Inter"/>
              </a:defRPr>
            </a:pPr>
            <a:r>
              <a:rPr/>
              <a:t>CAPITAL ALLOCATION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F172A"/>
                </a:solidFill>
              </a:defRPr>
            </a:pPr>
            <a:r>
              <a:rPr sz="3200" b="1" i="0">
                <a:latin typeface="Inter"/>
              </a:rPr>
              <a:t>$3.6B returned to shareholders in FY26</a:t>
            </a:r>
            <a:endParaRPr sz="3200" b="1" i="0">
              <a:latin typeface="Int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554480"/>
          <a:ext cx="640080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0" y="1645920"/>
            <a:ext cx="4389120" cy="4389120"/>
          </a:xfrm>
          <a:prstGeom prst="roundRect">
            <a:avLst/>
          </a:prstGeom>
          <a:solidFill>
            <a:srgbClr val="F4F5F7"/>
          </a:solidFill>
          <a:ln>
            <a:noFill/>
          </a:ln>
          <a:effectLst>
            <a:outerShdw blurRad="228600" dist="50800" dir="540000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28600" bIns="228600"/>
          <a:lstStyle/>
          <a:p>
            <a:pPr>
              <a:defRPr sz="2000" b="1">
                <a:solidFill>
                  <a:srgbClr val="0B2447"/>
                </a:solidFill>
                <a:latin typeface="Inter"/>
              </a:defRPr>
            </a:pPr>
            <a:r>
              <a:rPr/>
              <a:t>Capital framework</a:t>
            </a:r>
          </a:p>
          <a:p>
            <a:pPr>
              <a:spcBef>
                <a:spcPts val="1000"/>
              </a:spcBef>
              <a:defRPr sz="1300" b="1">
                <a:solidFill>
                  <a:srgbClr val="0F172A"/>
                </a:solidFill>
                <a:latin typeface="Inter"/>
              </a:defRPr>
            </a:pPr>
            <a:r>
              <a:rPr/>
              <a:t>Buybacks</a:t>
            </a:r>
          </a:p>
          <a:p>
            <a:pPr>
              <a:defRPr sz="1100">
                <a:solidFill>
                  <a:srgbClr val="475569"/>
                </a:solidFill>
                <a:latin typeface="Inter"/>
              </a:defRPr>
            </a:pPr>
            <a:r>
              <a:rPr/>
              <a:t>Opportunistic, $4B authorization remaining.</a:t>
            </a:r>
          </a:p>
          <a:p>
            <a:pPr>
              <a:spcBef>
                <a:spcPts val="1000"/>
              </a:spcBef>
              <a:defRPr sz="1300" b="1">
                <a:solidFill>
                  <a:srgbClr val="0F172A"/>
                </a:solidFill>
                <a:latin typeface="Inter"/>
              </a:defRPr>
            </a:pPr>
            <a:r>
              <a:rPr/>
              <a:t>Dividend</a:t>
            </a:r>
          </a:p>
          <a:p>
            <a:pPr>
              <a:defRPr sz="1100">
                <a:solidFill>
                  <a:srgbClr val="475569"/>
                </a:solidFill>
                <a:latin typeface="Inter"/>
              </a:defRPr>
            </a:pPr>
            <a:r>
              <a:rPr/>
              <a:t>Raised 8% — 14th consecutive annual increase.</a:t>
            </a:r>
          </a:p>
          <a:p>
            <a:pPr>
              <a:spcBef>
                <a:spcPts val="1000"/>
              </a:spcBef>
              <a:defRPr sz="1300" b="1">
                <a:solidFill>
                  <a:srgbClr val="0F172A"/>
                </a:solidFill>
                <a:latin typeface="Inter"/>
              </a:defRPr>
            </a:pPr>
            <a:r>
              <a:rPr/>
              <a:t>M&amp;A</a:t>
            </a:r>
          </a:p>
          <a:p>
            <a:pPr>
              <a:defRPr sz="1100">
                <a:solidFill>
                  <a:srgbClr val="475569"/>
                </a:solidFill>
                <a:latin typeface="Inter"/>
              </a:defRPr>
            </a:pPr>
            <a:r>
              <a:rPr/>
              <a:t>Disciplined tuck-ins; ROIC &gt; WACC + 400 bps.</a:t>
            </a:r>
          </a:p>
          <a:p>
            <a:pPr>
              <a:spcBef>
                <a:spcPts val="1000"/>
              </a:spcBef>
              <a:defRPr sz="1300" b="1">
                <a:solidFill>
                  <a:srgbClr val="0F172A"/>
                </a:solidFill>
                <a:latin typeface="Inter"/>
              </a:defRPr>
            </a:pPr>
            <a:r>
              <a:rPr/>
              <a:t>Balance sheet</a:t>
            </a:r>
          </a:p>
          <a:p>
            <a:pPr>
              <a:defRPr sz="1100">
                <a:solidFill>
                  <a:srgbClr val="475569"/>
                </a:solidFill>
                <a:latin typeface="Inter"/>
              </a:defRPr>
            </a:pPr>
            <a:r>
              <a:rPr/>
              <a:t>Net leverage 1.1x; investment-grade BBB+.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B24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Inter"/>
              </a:defRPr>
            </a:pPr>
            <a:r>
              <a:rPr/>
              <a:t>Confidential  |  Northwind Industries, Inc.  |  Q4 FY26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475569"/>
                </a:solidFill>
                <a:latin typeface="Inter"/>
              </a:defRPr>
            </a:pPr>
            <a:r>
              <a:rPr/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C9A227"/>
                </a:solidFill>
                <a:latin typeface="Inter"/>
              </a:defRPr>
            </a:pPr>
            <a:r>
              <a:rPr/>
              <a:t>FY27 OUTLOOK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F172A"/>
                </a:solidFill>
              </a:defRPr>
            </a:pPr>
            <a:r>
              <a:rPr sz="3200" b="1" i="0">
                <a:latin typeface="Inter"/>
              </a:rPr>
              <a:t>Guidance: balanced growth, continued margin lift</a:t>
            </a:r>
            <a:endParaRPr sz="3200" b="1" i="0">
              <a:latin typeface="Int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54480"/>
          <a:ext cx="1106424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560320"/>
                <a:gridCol w="2743200"/>
                <a:gridCol w="2560320"/>
              </a:tblGrid>
              <a:tr h="587828"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Metric</a:t>
                      </a:r>
                    </a:p>
                  </a:txBody>
                  <a:tcPr anchor="ctr">
                    <a:lnB w="19050">
                      <a:solidFill>
                        <a:srgbClr val="0B2447"/>
                      </a:solidFill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FY26 actual</a:t>
                      </a:r>
                    </a:p>
                  </a:txBody>
                  <a:tcPr anchor="ctr">
                    <a:lnB w="19050">
                      <a:solidFill>
                        <a:srgbClr val="0B2447"/>
                      </a:solidFill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FY27 guidance</a:t>
                      </a:r>
                    </a:p>
                  </a:txBody>
                  <a:tcPr anchor="ctr">
                    <a:lnB w="19050">
                      <a:solidFill>
                        <a:srgbClr val="0B2447"/>
                      </a:solidFill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Implied YoY</a:t>
                      </a:r>
                    </a:p>
                  </a:txBody>
                  <a:tcPr anchor="ctr">
                    <a:lnB w="19050">
                      <a:solidFill>
                        <a:srgbClr val="0B2447"/>
                      </a:solidFill>
                    </a:lnB>
                    <a:solidFill>
                      <a:srgbClr val="0B2447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  <a:latin typeface="Inter"/>
                        </a:defRPr>
                      </a:pPr>
                      <a:r>
                        <a:t>Revenue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  <a:latin typeface="Inter"/>
                        </a:defRPr>
                      </a:pPr>
                      <a:r>
                        <a:t>$18.93B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  <a:latin typeface="Inter"/>
                        </a:defRPr>
                      </a:pPr>
                      <a:r>
                        <a:t>$20.4–20.8B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  <a:latin typeface="Inter"/>
                        </a:defRPr>
                      </a:pPr>
                      <a:r>
                        <a:t>+8% – +10%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  <a:latin typeface="Inter"/>
                        </a:defRPr>
                      </a:pPr>
                      <a:r>
                        <a:t>Operating margin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  <a:latin typeface="Inter"/>
                        </a:defRPr>
                      </a:pPr>
                      <a:r>
                        <a:t>26.0%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  <a:latin typeface="Inter"/>
                        </a:defRPr>
                      </a:pPr>
                      <a:r>
                        <a:t>27.0–27.5%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  <a:latin typeface="Inter"/>
                        </a:defRPr>
                      </a:pPr>
                      <a:r>
                        <a:t>+100–150 bps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4F5F7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  <a:latin typeface="Inter"/>
                        </a:defRPr>
                      </a:pPr>
                      <a:r>
                        <a:t>Diluted EPS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  <a:latin typeface="Inter"/>
                        </a:defRPr>
                      </a:pPr>
                      <a:r>
                        <a:t>$12.86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  <a:latin typeface="Inter"/>
                        </a:defRPr>
                      </a:pPr>
                      <a:r>
                        <a:t>$14.10–14.40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  <a:latin typeface="Inter"/>
                        </a:defRPr>
                      </a:pPr>
                      <a:r>
                        <a:t>+10% – +12%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  <a:latin typeface="Inter"/>
                        </a:defRPr>
                      </a:pPr>
                      <a:r>
                        <a:t>Free cash flow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  <a:latin typeface="Inter"/>
                        </a:defRPr>
                      </a:pPr>
                      <a:r>
                        <a:t>$3.81B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  <a:latin typeface="Inter"/>
                        </a:defRPr>
                      </a:pPr>
                      <a:r>
                        <a:t>$4.20–4.40B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  <a:latin typeface="Inter"/>
                        </a:defRPr>
                      </a:pPr>
                      <a:r>
                        <a:t>+10% – +15%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4F5F7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  <a:latin typeface="Inter"/>
                        </a:defRPr>
                      </a:pPr>
                      <a:r>
                        <a:t>Capex (% revenue)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  <a:latin typeface="Inter"/>
                        </a:defRPr>
                      </a:pPr>
                      <a:r>
                        <a:t>3.4%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  <a:latin typeface="Inter"/>
                        </a:defRPr>
                      </a:pPr>
                      <a:r>
                        <a:t>3.0–3.5%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  <a:latin typeface="Inter"/>
                        </a:defRPr>
                      </a:pPr>
                      <a:r>
                        <a:t>Within range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</a:tr>
              <a:tr h="587832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  <a:latin typeface="Inter"/>
                        </a:defRPr>
                      </a:pPr>
                      <a:r>
                        <a:t>Effective tax rate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  <a:latin typeface="Inter"/>
                        </a:defRPr>
                      </a:pPr>
                      <a:r>
                        <a:t>21.6%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  <a:latin typeface="Inter"/>
                        </a:defRPr>
                      </a:pPr>
                      <a:r>
                        <a:t>21.0–22.0%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  <a:latin typeface="Inter"/>
                        </a:defRPr>
                      </a:pPr>
                      <a:r>
                        <a:t>Stable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85216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75569"/>
                </a:solidFill>
                <a:latin typeface="Inter"/>
              </a:defRPr>
            </a:pPr>
            <a:r>
              <a:rPr/>
              <a:t>Guidance assumes USD relatively stable vs. FY26 average; excludes impact of unannounced M&amp;A.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B24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Inter"/>
              </a:defRPr>
            </a:pPr>
            <a:r>
              <a:rPr/>
              <a:t>Confidential  |  Northwind Industries, Inc.  |  Q4 FY26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475569"/>
                </a:solidFill>
                <a:latin typeface="Inter"/>
              </a:defRPr>
            </a:pPr>
            <a:r>
              <a:rPr/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0B2447"/>
                </a:solidFill>
                <a:latin typeface="Inter"/>
              </a:rPr>
              <a:t>Risk factors we are actively managing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1109441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>
                <a:solidFill>
                  <a:srgbClr val="0F172A"/>
                </a:solidFill>
                <a:latin typeface="Inter"/>
              </a:rPr>
              <a:t>•  FX volatility — 38% of revenue is non-USD; 60% hedged through Q2 FY27.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0F172A"/>
                </a:solidFill>
                <a:latin typeface="Inter"/>
              </a:rPr>
              <a:t>•  Customer concentration — top 10 logos represent 22% of ARR (down from 27%).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0F172A"/>
                </a:solidFill>
                <a:latin typeface="Inter"/>
              </a:rPr>
              <a:t>•  Component supply — second-source qualified for the two critical SKUs.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0F172A"/>
                </a:solidFill>
                <a:latin typeface="Inter"/>
              </a:rPr>
              <a:t>•  Regulatory — EU AI Act compliance program on track for August 2026.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0F172A"/>
                </a:solidFill>
                <a:latin typeface="Inter"/>
              </a:rPr>
              <a:t>•  Cyber — no material incidents in Q4; SOC 2 Type II re-certified.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B24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Inter"/>
              </a:defRPr>
            </a:pPr>
            <a:r>
              <a:rPr/>
              <a:t>Confidential  |  Northwind Industries, Inc.  |  Q4 FY26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475569"/>
                </a:solidFill>
                <a:latin typeface="Inter"/>
              </a:defRPr>
            </a:pPr>
            <a:r>
              <a:rPr/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828800"/>
            <a:ext cx="9997135" cy="320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 i="1">
                <a:solidFill>
                  <a:srgbClr val="0B2447"/>
                </a:solidFill>
                <a:latin typeface="Inter"/>
              </a:rPr>
              <a:t>“We exited the year with the strongest balance sheet in the company's history and a healthier mix of recurring revenue than at any point in the past decade.”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5120640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>
                <a:solidFill>
                  <a:srgbClr val="475569"/>
                </a:solidFill>
                <a:latin typeface="Inter"/>
              </a:rPr>
              <a:t>— Marcus Chen, Chief Executive Officer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B24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Inter"/>
              </a:defRPr>
            </a:pPr>
            <a:r>
              <a:rPr/>
              <a:t>Confidential  |  Northwind Industries, Inc.  |  Q4 FY26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475569"/>
                </a:solidFill>
                <a:latin typeface="Inter"/>
              </a:defRPr>
            </a:pPr>
            <a:r>
              <a:rPr/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2447"/>
              </a:gs>
              <a:gs pos="100000">
                <a:srgbClr val="0F172A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332720" cy="1645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>
                <a:solidFill>
                  <a:srgbClr val="FFFFFF"/>
                </a:solidFill>
              </a:defRPr>
            </a:pPr>
            <a:r>
              <a:rPr sz="6000" b="1" i="0">
                <a:latin typeface="Inter"/>
              </a:rPr>
              <a:t>Questions &amp; Answers</a:t>
            </a:r>
            <a:endParaRPr sz="6000" b="1" i="0">
              <a:latin typeface="Inte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4297680"/>
            <a:ext cx="1033272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>
                <a:solidFill>
                  <a:srgbClr val="C9A227"/>
                </a:solidFill>
              </a:defRPr>
            </a:pPr>
            <a:r>
              <a:rPr sz="2200" b="0" i="0">
                <a:latin typeface="Inter"/>
              </a:rPr>
              <a:t>investor.relations@northwind.com  |  ir.northwind.com</a:t>
            </a:r>
            <a:endParaRPr sz="2200" b="0" i="0">
              <a:latin typeface="Inter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641848" y="4114800"/>
            <a:ext cx="914400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
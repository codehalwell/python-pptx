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Meridian — revenue and EBITDA ($M)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F2D6B"/>
            </a:solidFill>
          </c:spPr>
          <c:cat>
            <c:strRef>
              <c:f>Sheet1!$A$2:$A$6</c:f>
              <c:strCache>
                <c:ptCount val="5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242</c:v>
                </c:pt>
                <c:pt idx="1">
                  <c:v>286</c:v>
                </c:pt>
                <c:pt idx="2">
                  <c:v>348</c:v>
                </c:pt>
                <c:pt idx="3">
                  <c:v>412</c:v>
                </c:pt>
                <c:pt idx="4">
                  <c:v>486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($M)</c:v>
                </c:pt>
              </c:strCache>
            </c:strRef>
          </c:tx>
          <c:spPr>
            <a:solidFill>
              <a:srgbClr val="15803D"/>
            </a:solidFill>
          </c:spPr>
          <c:cat>
            <c:strRef>
              <c:f>Sheet1!$A$2:$A$6</c:f>
              <c:strCache>
                <c:ptCount val="5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44</c:v>
                </c:pt>
                <c:pt idx="1">
                  <c:v>58</c:v>
                </c:pt>
                <c:pt idx="2">
                  <c:v>72</c:v>
                </c:pt>
                <c:pt idx="3">
                  <c:v>92</c:v>
                </c:pt>
                <c:pt idx="4">
                  <c:v>114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gradFill rotWithShape="1">
            <a:gsLst>
              <a:gs pos="0">
                <a:srgbClr val="0F2D6B"/>
              </a:gs>
              <a:gs pos="100000">
                <a:srgbClr val="111827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109728" cy="68580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CA3AF"/>
                </a:solidFill>
                <a:latin typeface="Inter"/>
              </a:defRPr>
            </a:pPr>
            <a:r>
              <a:rPr/>
              <a:t>PROJECT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4297680" cy="2926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sz="3900" b="1" i="0">
                <a:latin typeface="Inter"/>
              </a:rPr>
              <a:t>Recommendation:</a:t>
            </a:r>
            <a:endParaRPr sz="3900" b="1" i="0">
              <a:latin typeface="Inter"/>
            </a:endParaRPr>
          </a:p>
          <a:p>
            <a:r>
              <a:rPr sz="3900" b="1" i="0">
                <a:latin typeface="Inter"/>
              </a:rPr>
              <a:t>Proceed to definitive agreement.</a:t>
            </a:r>
            <a:endParaRPr sz="3900" b="1" i="0"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0" y="2377440"/>
            <a:ext cx="6217920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111827"/>
                </a:solidFill>
              </a:defRPr>
            </a:pPr>
            <a:r>
              <a:rPr sz="2800" b="0" i="0">
                <a:latin typeface="Inter"/>
              </a:rPr>
              <a:t>Acquisition of Meridian Composites — strategically accretive, culturally compatible, and underwritten to a 14% IRR base case.</a:t>
            </a:r>
            <a:endParaRPr sz="2800" b="0" i="0"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0" y="530352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827"/>
                </a:solidFill>
                <a:latin typeface="Inter"/>
              </a:defRPr>
            </a:pPr>
            <a:r>
              <a:rPr/>
              <a:t>Corporate Development &amp; Strategy</a:t>
            </a:r>
          </a:p>
          <a:p>
            <a:pPr>
              <a:defRPr sz="1200">
                <a:solidFill>
                  <a:srgbClr val="6B7280"/>
                </a:solidFill>
                <a:latin typeface="Inter"/>
              </a:defRPr>
            </a:pPr>
            <a:r>
              <a:rPr/>
              <a:t>M&amp;A Committee  •  May 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Inter"/>
              </a:defRPr>
            </a:pPr>
            <a:r>
              <a:rPr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111827"/>
                </a:solidFill>
              </a:defRPr>
            </a:pPr>
            <a:r>
              <a:rPr sz="3200" b="1" i="0">
                <a:latin typeface="Inter"/>
              </a:rPr>
              <a:t>Why Meridian, why now, and what it costs us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73152" cy="594360"/>
          </a:xfrm>
          <a:prstGeom prst="rect">
            <a:avLst/>
          </a:prstGeom>
          <a:solidFill>
            <a:srgbClr val="0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D6B"/>
                </a:solidFill>
                <a:latin typeface="Inter"/>
              </a:defRPr>
            </a:pPr>
            <a:r>
              <a:rPr/>
              <a:t>What</a:t>
            </a:r>
          </a:p>
          <a:p>
            <a:pPr>
              <a:defRPr sz="1300">
                <a:solidFill>
                  <a:srgbClr val="111827"/>
                </a:solidFill>
                <a:latin typeface="Inter"/>
              </a:defRPr>
            </a:pPr>
            <a:r>
              <a:rPr/>
              <a:t>Acquire 100% of Meridian Composites for $1.84B in cash.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06040"/>
            <a:ext cx="73152" cy="594360"/>
          </a:xfrm>
          <a:prstGeom prst="rect">
            <a:avLst/>
          </a:prstGeom>
          <a:solidFill>
            <a:srgbClr val="0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D6B"/>
                </a:solidFill>
                <a:latin typeface="Inter"/>
              </a:defRPr>
            </a:pPr>
            <a:r>
              <a:rPr/>
              <a:t>Why now</a:t>
            </a:r>
          </a:p>
          <a:p>
            <a:pPr>
              <a:defRPr sz="1300">
                <a:solidFill>
                  <a:srgbClr val="111827"/>
                </a:solidFill>
                <a:latin typeface="Inter"/>
              </a:defRPr>
            </a:pPr>
            <a:r>
              <a:rPr/>
              <a:t>Founder retirement creates a window; two strategic buyers are circling.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474720"/>
            <a:ext cx="73152" cy="594360"/>
          </a:xfrm>
          <a:prstGeom prst="rect">
            <a:avLst/>
          </a:prstGeom>
          <a:solidFill>
            <a:srgbClr val="0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D6B"/>
                </a:solidFill>
                <a:latin typeface="Inter"/>
              </a:defRPr>
            </a:pPr>
            <a:r>
              <a:rPr/>
              <a:t>Strategic</a:t>
            </a:r>
          </a:p>
          <a:p>
            <a:pPr>
              <a:defRPr sz="1300">
                <a:solidFill>
                  <a:srgbClr val="111827"/>
                </a:solidFill>
                <a:latin typeface="Inter"/>
              </a:defRPr>
            </a:pPr>
            <a:r>
              <a:rPr/>
              <a:t>Closes the highest-margin gap in our materials portfolio; opens aerospace OEM channels.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343399"/>
            <a:ext cx="73152" cy="594360"/>
          </a:xfrm>
          <a:prstGeom prst="rect">
            <a:avLst/>
          </a:prstGeom>
          <a:solidFill>
            <a:srgbClr val="0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51959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D6B"/>
                </a:solidFill>
                <a:latin typeface="Inter"/>
              </a:defRPr>
            </a:pPr>
            <a:r>
              <a:rPr/>
              <a:t>Financial</a:t>
            </a:r>
          </a:p>
          <a:p>
            <a:pPr>
              <a:defRPr sz="1300">
                <a:solidFill>
                  <a:srgbClr val="111827"/>
                </a:solidFill>
                <a:latin typeface="Inter"/>
              </a:defRPr>
            </a:pPr>
            <a:r>
              <a:rPr/>
              <a:t>23.4% EBITDA, $58M of identified run-rate synergies; accretive in year 2.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12079"/>
            <a:ext cx="73152" cy="594360"/>
          </a:xfrm>
          <a:prstGeom prst="rect">
            <a:avLst/>
          </a:prstGeom>
          <a:solidFill>
            <a:srgbClr val="0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12064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D6B"/>
                </a:solidFill>
                <a:latin typeface="Inter"/>
              </a:defRPr>
            </a:pPr>
            <a:r>
              <a:rPr/>
              <a:t>Risk</a:t>
            </a:r>
          </a:p>
          <a:p>
            <a:pPr>
              <a:defRPr sz="1300">
                <a:solidFill>
                  <a:srgbClr val="111827"/>
                </a:solidFill>
                <a:latin typeface="Inter"/>
              </a:defRPr>
            </a:pPr>
            <a:r>
              <a:rPr/>
              <a:t>Two key person dependencies; 18-month carve-out from European parent.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Project Blueprint  |  Strictly confidential — M&amp;A Committee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Inter"/>
              </a:defRPr>
            </a:pPr>
            <a:r>
              <a:rPr/>
              <a:t>STRATEGIC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111827"/>
                </a:solidFill>
              </a:defRPr>
            </a:pPr>
            <a:r>
              <a:rPr sz="3200" b="1" i="0">
                <a:latin typeface="Inter"/>
              </a:rPr>
              <a:t>Three reasons this deal compounds value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70332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355600" bIns="254000"/>
          <a:lstStyle/>
          <a:p>
            <a:pPr>
              <a:defRPr sz="2400" b="1">
                <a:solidFill>
                  <a:srgbClr val="111827"/>
                </a:solidFill>
                <a:latin typeface="Inter"/>
              </a:defRPr>
            </a:pPr>
            <a:r>
              <a:rPr/>
              <a:t>Portfolio</a:t>
            </a:r>
          </a:p>
          <a:p>
            <a:pPr>
              <a:spcBef>
                <a:spcPts val="1000"/>
              </a:spcBef>
              <a:defRPr sz="1400">
                <a:solidFill>
                  <a:srgbClr val="6B7280"/>
                </a:solidFill>
                <a:latin typeface="Inter"/>
              </a:defRPr>
            </a:pPr>
            <a:r>
              <a:rPr/>
              <a:t>Closes a $400M revenue gap in advanced composites and lifts portfolio margin by 60 bps.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703320" cy="146304"/>
          </a:xfrm>
          <a:prstGeom prst="rect">
            <a:avLst/>
          </a:prstGeom>
          <a:solidFill>
            <a:srgbClr val="0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691640"/>
            <a:ext cx="370332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355600" bIns="254000"/>
          <a:lstStyle/>
          <a:p>
            <a:pPr>
              <a:defRPr sz="2400" b="1">
                <a:solidFill>
                  <a:srgbClr val="111827"/>
                </a:solidFill>
                <a:latin typeface="Inter"/>
              </a:defRPr>
            </a:pPr>
            <a:r>
              <a:rPr/>
              <a:t>Channel</a:t>
            </a:r>
          </a:p>
          <a:p>
            <a:pPr>
              <a:spcBef>
                <a:spcPts val="1000"/>
              </a:spcBef>
              <a:defRPr sz="1400">
                <a:solidFill>
                  <a:srgbClr val="6B7280"/>
                </a:solidFill>
                <a:latin typeface="Inter"/>
              </a:defRPr>
            </a:pPr>
            <a:r>
              <a:rPr/>
              <a:t>Tier-1 aerospace OEM relationships unlock cross-sell of our existing alloy portfolio.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91640"/>
            <a:ext cx="3703320" cy="14630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0" y="1691640"/>
            <a:ext cx="370332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355600" bIns="254000"/>
          <a:lstStyle/>
          <a:p>
            <a:pPr>
              <a:defRPr sz="2400" b="1">
                <a:solidFill>
                  <a:srgbClr val="111827"/>
                </a:solidFill>
                <a:latin typeface="Inter"/>
              </a:defRPr>
            </a:pPr>
            <a:r>
              <a:rPr/>
              <a:t>Talent</a:t>
            </a:r>
          </a:p>
          <a:p>
            <a:pPr>
              <a:spcBef>
                <a:spcPts val="1000"/>
              </a:spcBef>
              <a:defRPr sz="1400">
                <a:solidFill>
                  <a:srgbClr val="6B7280"/>
                </a:solidFill>
                <a:latin typeface="Inter"/>
              </a:defRPr>
            </a:pPr>
            <a:r>
              <a:rPr/>
              <a:t>Inherits a 230-person R&amp;D bench specialised in carbon-fibre process engineering.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691640"/>
            <a:ext cx="3703320" cy="146304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Project Blueprint  |  Strictly confidential — M&amp;A Committee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F2D6B"/>
                </a:solidFill>
                <a:latin typeface="Inter"/>
              </a:rPr>
              <a:t>Meridian Composites —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602153" cy="173736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6B7280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F2D6B"/>
                </a:solidFill>
                <a:latin typeface="Inter"/>
              </a:rPr>
              <a:t>$486M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Inter"/>
              </a:rPr>
              <a:t>FY26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5803D"/>
                </a:solidFill>
                <a:latin typeface="Inter"/>
              </a:rPr>
              <a:t>+18%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9393" y="1645920"/>
            <a:ext cx="2602153" cy="173736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6B7280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379393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F2D6B"/>
                </a:solidFill>
                <a:latin typeface="Inter"/>
              </a:rPr>
              <a:t>23.4%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9393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Inter"/>
              </a:rPr>
              <a:t>EBITDA 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9393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5803D"/>
                </a:solidFill>
                <a:latin typeface="Inter"/>
              </a:rPr>
              <a:t>+4%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6" y="1645920"/>
            <a:ext cx="2602153" cy="173736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6B7280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0146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F2D6B"/>
                </a:solidFill>
                <a:latin typeface="Inter"/>
              </a:rPr>
              <a:t>37%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146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Inter"/>
              </a:rPr>
              <a:t>Customer overlap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146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5803D"/>
                </a:solidFill>
                <a:latin typeface="Inter"/>
              </a:rPr>
              <a:t>+10%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40899" y="1645920"/>
            <a:ext cx="2602153" cy="173736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6B7280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040899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F2D6B"/>
                </a:solidFill>
                <a:latin typeface="Inter"/>
              </a:rPr>
              <a:t>1,840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0899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Inter"/>
              </a:rPr>
              <a:t>Headcount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0899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5803D"/>
                </a:solidFill>
                <a:latin typeface="Inter"/>
              </a:rPr>
              <a:t>+6%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Project Blueprint  |  Strictly confidential — M&amp;A Committee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Inter"/>
              </a:defRPr>
            </a:pPr>
            <a:r>
              <a:rPr/>
              <a:t>FINANCIAL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111827"/>
                </a:solidFill>
              </a:defRPr>
            </a:pPr>
            <a:r>
              <a:rPr sz="3200" b="1" i="0">
                <a:latin typeface="Inter"/>
              </a:rPr>
              <a:t>Five-year track record — durable growth, expanding margin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76809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03920" y="1554480"/>
            <a:ext cx="3200400" cy="45720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>
            <a:outerShdw blurRad="228600" dist="50800" dir="540000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>
              <a:defRPr sz="1800" b="1">
                <a:solidFill>
                  <a:srgbClr val="0F2D6B"/>
                </a:solidFill>
                <a:latin typeface="Inter"/>
              </a:defRPr>
            </a:pPr>
            <a:r>
              <a:rPr/>
              <a:t>Quality of earnings</a:t>
            </a:r>
          </a:p>
          <a:p>
            <a:pPr>
              <a:spcBef>
                <a:spcPts val="1000"/>
              </a:spcBef>
              <a:defRPr sz="1300" b="1">
                <a:solidFill>
                  <a:srgbClr val="111827"/>
                </a:solidFill>
              </a:defRPr>
            </a:pPr>
            <a:r>
              <a:rPr/>
              <a:t>Recurring revenue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rPr/>
              <a:t>62% under multi-year service agreements.</a:t>
            </a:r>
          </a:p>
          <a:p>
            <a:pPr>
              <a:spcBef>
                <a:spcPts val="1000"/>
              </a:spcBef>
              <a:defRPr sz="1300" b="1">
                <a:solidFill>
                  <a:srgbClr val="111827"/>
                </a:solidFill>
              </a:defRPr>
            </a:pPr>
            <a:r>
              <a:rPr/>
              <a:t>Customer concentration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rPr/>
              <a:t>Top 10 = 38% of revenue (down from 51%).</a:t>
            </a:r>
          </a:p>
          <a:p>
            <a:pPr>
              <a:spcBef>
                <a:spcPts val="1000"/>
              </a:spcBef>
              <a:defRPr sz="1300" b="1">
                <a:solidFill>
                  <a:srgbClr val="111827"/>
                </a:solidFill>
              </a:defRPr>
            </a:pPr>
            <a:r>
              <a:rPr/>
              <a:t>Working capital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rPr/>
              <a:t>DSO 47 d, DIO 71 d — best-in-class.</a:t>
            </a:r>
          </a:p>
          <a:p>
            <a:pPr>
              <a:spcBef>
                <a:spcPts val="1000"/>
              </a:spcBef>
              <a:defRPr sz="1300" b="1">
                <a:solidFill>
                  <a:srgbClr val="111827"/>
                </a:solidFill>
              </a:defRPr>
            </a:pPr>
            <a:r>
              <a:rPr/>
              <a:t>CapEx intensity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rPr/>
              <a:t>5.4% of revenue, well within our envelope.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Project Blueprint  |  Strictly confidential — M&amp;A Committee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Inter"/>
              </a:defRPr>
            </a:pPr>
            <a:r>
              <a:rPr/>
              <a:t>VALUE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111827"/>
                </a:solidFill>
              </a:defRPr>
            </a:pPr>
            <a:r>
              <a:rPr sz="3200" b="1" i="0">
                <a:latin typeface="Inter"/>
              </a:rPr>
              <a:t>$58M run-rate synergy by year 3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1828800"/>
                <a:gridCol w="2194560"/>
                <a:gridCol w="201168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Synergy</a:t>
                      </a:r>
                    </a:p>
                  </a:txBody>
                  <a:tcPr anchor="ctr">
                    <a:solidFill>
                      <a:srgbClr val="0F2D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Run-rate ($M)</a:t>
                      </a:r>
                    </a:p>
                  </a:txBody>
                  <a:tcPr anchor="ctr">
                    <a:solidFill>
                      <a:srgbClr val="0F2D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Realisation</a:t>
                      </a:r>
                    </a:p>
                  </a:txBody>
                  <a:tcPr anchor="ctr">
                    <a:solidFill>
                      <a:srgbClr val="0F2D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Confidence</a:t>
                      </a:r>
                    </a:p>
                  </a:txBody>
                  <a:tcPr anchor="ctr">
                    <a:solidFill>
                      <a:srgbClr val="0F2D6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11827"/>
                          </a:solidFill>
                        </a:defRPr>
                      </a:pPr>
                      <a:r>
                        <a:t>Procurement consolidation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111827"/>
                          </a:solidFill>
                        </a:defRPr>
                      </a:pPr>
                      <a:r>
                        <a:t>$18M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Y1 H2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5803D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11827"/>
                          </a:solidFill>
                        </a:defRPr>
                      </a:pPr>
                      <a:r>
                        <a:t>Manufacturing footprint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111827"/>
                          </a:solidFill>
                        </a:defRPr>
                      </a:pPr>
                      <a:r>
                        <a:t>$14M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Y2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9E0B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11827"/>
                          </a:solidFill>
                        </a:defRPr>
                      </a:pPr>
                      <a:r>
                        <a:t>Cross-sell to aerospace OEMs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111827"/>
                          </a:solidFill>
                        </a:defRPr>
                      </a:pPr>
                      <a:r>
                        <a:t>$12M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Y2 H2 onward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9E0B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11827"/>
                          </a:solidFill>
                        </a:defRPr>
                      </a:pPr>
                      <a:r>
                        <a:t>Combined R&amp;D rationalisation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111827"/>
                          </a:solidFill>
                        </a:defRPr>
                      </a:pPr>
                      <a:r>
                        <a:t>$8M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Y2 H2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5803D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11827"/>
                          </a:solidFill>
                        </a:defRPr>
                      </a:pPr>
                      <a:r>
                        <a:t>G&amp;A rationalisation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111827"/>
                          </a:solidFill>
                        </a:defRPr>
                      </a:pPr>
                      <a:r>
                        <a:t>$6M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Y1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5803D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B7280"/>
                </a:solidFill>
              </a:defRPr>
            </a:pPr>
            <a:r>
              <a:rPr/>
              <a:t>One-time integration costs estimated at $48M, fully expensed in years 1–2.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Project Blueprint  |  Strictly confidential — M&amp;A Committee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Inter"/>
              </a:defRPr>
            </a:pPr>
            <a:r>
              <a:rPr/>
              <a:t>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111827"/>
                </a:solidFill>
              </a:defRPr>
            </a:pPr>
            <a:r>
              <a:rPr sz="3200" b="1" i="0">
                <a:latin typeface="Inter"/>
              </a:rPr>
              <a:t>Underwritten to a 14% IRR base case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286000"/>
                <a:gridCol w="2286000"/>
                <a:gridCol w="2286000"/>
              </a:tblGrid>
              <a:tr h="525780"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F2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Bear</a:t>
                      </a:r>
                    </a:p>
                  </a:txBody>
                  <a:tcPr anchor="ctr">
                    <a:solidFill>
                      <a:srgbClr val="0F2D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111827"/>
                          </a:solidFill>
                        </a:defRPr>
                      </a:pPr>
                      <a:r>
                        <a:t>Base</a:t>
                      </a:r>
                    </a:p>
                  </a:txBody>
                  <a:tcPr anchor="ctr">
                    <a:solidFill>
                      <a:srgbClr val="9CA3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Bull</a:t>
                      </a:r>
                    </a:p>
                  </a:txBody>
                  <a:tcPr anchor="ctr">
                    <a:solidFill>
                      <a:srgbClr val="0F2D6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11827"/>
                          </a:solidFill>
                        </a:defRPr>
                      </a:pPr>
                      <a:r>
                        <a:t>Purchase price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$1.84B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11827"/>
                          </a:solidFill>
                        </a:defRPr>
                      </a:pPr>
                      <a:r>
                        <a:t>$1.84B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4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$1.84B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11827"/>
                          </a:solidFill>
                        </a:defRPr>
                      </a:pPr>
                      <a:r>
                        <a:t>Year-3 revenue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$610M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11827"/>
                          </a:solidFill>
                        </a:defRPr>
                      </a:pPr>
                      <a:r>
                        <a:t>$680M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4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$760M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11827"/>
                          </a:solidFill>
                        </a:defRPr>
                      </a:pPr>
                      <a:r>
                        <a:t>Year-3 EBITDA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$130M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11827"/>
                          </a:solidFill>
                        </a:defRPr>
                      </a:pPr>
                      <a:r>
                        <a:t>$172M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4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$220M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11827"/>
                          </a:solidFill>
                        </a:defRPr>
                      </a:pPr>
                      <a:r>
                        <a:t>Synergies (run-rate)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$42M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11827"/>
                          </a:solidFill>
                        </a:defRPr>
                      </a:pPr>
                      <a:r>
                        <a:t>$58M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4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$72M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11827"/>
                          </a:solidFill>
                        </a:defRPr>
                      </a:pPr>
                      <a:r>
                        <a:t>Year-5 exit multiple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11.0×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11827"/>
                          </a:solidFill>
                        </a:defRPr>
                      </a:pPr>
                      <a:r>
                        <a:t>12.5×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4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14.0×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11827"/>
                          </a:solidFill>
                        </a:defRPr>
                      </a:pPr>
                      <a:r>
                        <a:t>IRR (5-year)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9.1%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11827"/>
                          </a:solidFill>
                        </a:defRPr>
                      </a:pPr>
                      <a:r>
                        <a:t>14.2%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4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20.4%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11827"/>
                          </a:solidFill>
                        </a:defRPr>
                      </a:pPr>
                      <a:r>
                        <a:t>MOIC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1.5×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11827"/>
                          </a:solidFill>
                        </a:defRPr>
                      </a:pPr>
                      <a:r>
                        <a:t>1.9×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4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2.5×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Project Blueprint  |  Strictly confidential — M&amp;A Committee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Inter"/>
              </a:defRPr>
            </a:pPr>
            <a:r>
              <a:rPr/>
              <a:t>DILIGENCE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111827"/>
                </a:solidFill>
              </a:defRPr>
            </a:pPr>
            <a:r>
              <a:rPr sz="3200" b="1" i="0">
                <a:latin typeface="Inter"/>
              </a:rPr>
              <a:t>Workstream summary — green / amber, no red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94560"/>
                <a:gridCol w="1280160"/>
                <a:gridCol w="5760720"/>
              </a:tblGrid>
              <a:tr h="5257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Workstream</a:t>
                      </a:r>
                    </a:p>
                  </a:txBody>
                  <a:tcPr anchor="ctr">
                    <a:solidFill>
                      <a:srgbClr val="0F2D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Lead</a:t>
                      </a:r>
                    </a:p>
                  </a:txBody>
                  <a:tcPr anchor="ctr">
                    <a:solidFill>
                      <a:srgbClr val="0F2D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F2D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Headline finding</a:t>
                      </a:r>
                    </a:p>
                  </a:txBody>
                  <a:tcPr anchor="ctr">
                    <a:solidFill>
                      <a:srgbClr val="0F2D6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11827"/>
                          </a:solidFill>
                        </a:defRPr>
                      </a:pPr>
                      <a:r>
                        <a:t>Commercial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</a:defRPr>
                      </a:pPr>
                      <a:r>
                        <a:t>Bain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</a:defRPr>
                      </a:pPr>
                      <a:r>
                        <a:t>Pipeline coverage validated; customer references strong.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11827"/>
                          </a:solidFill>
                        </a:defRPr>
                      </a:pPr>
                      <a:r>
                        <a:t>Financial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</a:defRPr>
                      </a:pPr>
                      <a:r>
                        <a:t>PwC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</a:defRPr>
                      </a:pPr>
                      <a:r>
                        <a:t>Quality of earnings clean; modest working-capital adjustment.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11827"/>
                          </a:solidFill>
                        </a:defRPr>
                      </a:pPr>
                      <a:r>
                        <a:t>Tax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</a:defRPr>
                      </a:pPr>
                      <a:r>
                        <a:t>EY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</a:defRPr>
                      </a:pPr>
                      <a:r>
                        <a:t>No material exposures; transfer-pricing position defensible.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11827"/>
                          </a:solidFill>
                        </a:defRPr>
                      </a:pPr>
                      <a:r>
                        <a:t>Legal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</a:defRPr>
                      </a:pPr>
                      <a:r>
                        <a:t>Cleary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</a:defRPr>
                      </a:pPr>
                      <a:r>
                        <a:t>EU parent carve-out adds 6 weeks; mitigated via TSA.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11827"/>
                          </a:solidFill>
                        </a:defRPr>
                      </a:pPr>
                      <a:r>
                        <a:t>Tech / Cyber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</a:defRPr>
                      </a:pPr>
                      <a:r>
                        <a:t>Internal + Mandiant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AMBER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</a:defRPr>
                      </a:pPr>
                      <a:r>
                        <a:t>OT estate needs $14M of remediation; included in synergies.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11827"/>
                          </a:solidFill>
                        </a:defRPr>
                      </a:pPr>
                      <a:r>
                        <a:t>HR / Culture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</a:defRPr>
                      </a:pPr>
                      <a:r>
                        <a:t>Mercer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</a:defRPr>
                      </a:pPr>
                      <a:r>
                        <a:t>Engagement 76 (high); attrition 9% (industry avg 14%).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11827"/>
                          </a:solidFill>
                        </a:defRPr>
                      </a:pPr>
                      <a:r>
                        <a:t>ESG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</a:defRPr>
                      </a:pPr>
                      <a:r>
                        <a:t>Internal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GREEN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11827"/>
                          </a:solidFill>
                        </a:defRPr>
                      </a:pPr>
                      <a:r>
                        <a:t>Scope 1+2 trajectory aligned with our SBTi commitments.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Project Blueprint  |  Strictly confidential — M&amp;A Committee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Inter"/>
              </a:defRPr>
            </a:pPr>
            <a:r>
              <a:rPr/>
              <a:t>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111827"/>
                </a:solidFill>
              </a:defRPr>
            </a:pPr>
            <a:r>
              <a:rPr sz="3200" b="1" i="0">
                <a:latin typeface="Inter"/>
              </a:rPr>
              <a:t>100-day plan and 18-month roadmap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548640" cy="5486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3310128"/>
            <a:ext cx="10881360" cy="5486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51660" y="3310128"/>
            <a:ext cx="274320" cy="274320"/>
          </a:xfrm>
          <a:prstGeom prst="ellipse">
            <a:avLst/>
          </a:prstGeom>
          <a:solidFill>
            <a:srgbClr val="0F2D6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2D6B"/>
                </a:solidFill>
                <a:latin typeface="Inter"/>
              </a:defRPr>
            </a:pPr>
            <a:r>
              <a:rPr/>
              <a:t>Day 1</a:t>
            </a:r>
          </a:p>
          <a:p>
            <a:pPr algn="ctr">
              <a:defRPr sz="1100">
                <a:solidFill>
                  <a:srgbClr val="6B7280"/>
                </a:solidFill>
              </a:defRPr>
            </a:pPr>
            <a:r>
              <a:rPr/>
              <a:t>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269748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>
                <a:solidFill>
                  <a:srgbClr val="111827"/>
                </a:solidFill>
              </a:defRPr>
            </a:pPr>
            <a:r>
              <a:rPr/>
              <a:t>Day-1 readiness, leadership announce, IT first connections.</a:t>
            </a:r>
          </a:p>
        </p:txBody>
      </p:sp>
      <p:sp>
        <p:nvSpPr>
          <p:cNvPr id="9" name="Oval 8"/>
          <p:cNvSpPr/>
          <p:nvPr/>
        </p:nvSpPr>
        <p:spPr>
          <a:xfrm>
            <a:off x="4594860" y="3310128"/>
            <a:ext cx="274320" cy="274320"/>
          </a:xfrm>
          <a:prstGeom prst="ellipse">
            <a:avLst/>
          </a:prstGeom>
          <a:solidFill>
            <a:srgbClr val="47556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828800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75569"/>
                </a:solidFill>
                <a:latin typeface="Inter"/>
              </a:defRPr>
            </a:pPr>
            <a:r>
              <a:rPr/>
              <a:t>Day 100</a:t>
            </a:r>
          </a:p>
          <a:p>
            <a:pPr algn="ctr">
              <a:defRPr sz="1100">
                <a:solidFill>
                  <a:srgbClr val="6B7280"/>
                </a:solidFill>
              </a:defRPr>
            </a:pPr>
            <a:r>
              <a:rPr/>
              <a:t>Aug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840480"/>
            <a:ext cx="269748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>
                <a:solidFill>
                  <a:srgbClr val="111827"/>
                </a:solidFill>
              </a:defRPr>
            </a:pPr>
            <a:r>
              <a:rPr/>
              <a:t>Synergy plan finalised, retention agreements, brand decisions.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338060" y="3310128"/>
            <a:ext cx="274320" cy="274320"/>
          </a:xfrm>
          <a:prstGeom prst="ellipse">
            <a:avLst/>
          </a:prstGeom>
          <a:solidFill>
            <a:srgbClr val="15803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828800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5803D"/>
                </a:solidFill>
                <a:latin typeface="Inter"/>
              </a:defRPr>
            </a:pPr>
            <a:r>
              <a:rPr/>
              <a:t>Month 9</a:t>
            </a:r>
          </a:p>
          <a:p>
            <a:pPr algn="ctr">
              <a:defRPr sz="1100">
                <a:solidFill>
                  <a:srgbClr val="6B7280"/>
                </a:solidFill>
              </a:defRPr>
            </a:pPr>
            <a:r>
              <a:rPr/>
              <a:t>Feb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840480"/>
            <a:ext cx="269748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>
                <a:solidFill>
                  <a:srgbClr val="111827"/>
                </a:solidFill>
              </a:defRPr>
            </a:pPr>
            <a:r>
              <a:rPr/>
              <a:t>Procurement migration complete; first cross-sell wins booked.</a:t>
            </a:r>
          </a:p>
        </p:txBody>
      </p:sp>
      <p:sp>
        <p:nvSpPr>
          <p:cNvPr id="15" name="Oval 14"/>
          <p:cNvSpPr/>
          <p:nvPr/>
        </p:nvSpPr>
        <p:spPr>
          <a:xfrm>
            <a:off x="10081259" y="3310128"/>
            <a:ext cx="274320" cy="274320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1828800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9A227"/>
                </a:solidFill>
                <a:latin typeface="Inter"/>
              </a:defRPr>
            </a:pPr>
            <a:r>
              <a:rPr/>
              <a:t>Month 18</a:t>
            </a:r>
          </a:p>
          <a:p>
            <a:pPr algn="ctr">
              <a:defRPr sz="1100">
                <a:solidFill>
                  <a:srgbClr val="6B7280"/>
                </a:solidFill>
              </a:defRPr>
            </a:pPr>
            <a:r>
              <a:rPr/>
              <a:t>Nov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840480"/>
            <a:ext cx="269748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>
                <a:solidFill>
                  <a:srgbClr val="111827"/>
                </a:solidFill>
              </a:defRPr>
            </a:pPr>
            <a:r>
              <a:rPr/>
              <a:t>Plant footprint moves complete; full systems migration done.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F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Project Blueprint  |  Strictly confidential — M&amp;A Committee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2D6B"/>
              </a:gs>
              <a:gs pos="100000">
                <a:srgbClr val="111827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645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sz="6000" b="1" i="0">
                <a:latin typeface="Inter"/>
              </a:rPr>
              <a:t>Approve to proceed.</a:t>
            </a:r>
            <a:endParaRPr sz="6000" b="1" i="0">
              <a:latin typeface="Int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3272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>
                <a:solidFill>
                  <a:srgbClr val="9CA3AF"/>
                </a:solidFill>
              </a:defRPr>
            </a:pPr>
            <a:r>
              <a:rPr sz="2200" b="0" i="0">
                <a:latin typeface="Inter"/>
              </a:rPr>
              <a:t>Definitive agreement targeted for signing on June 14, 2026.</a:t>
            </a:r>
            <a:endParaRPr sz="2200" b="0" i="0">
              <a:latin typeface="Inte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41848" y="4114800"/>
            <a:ext cx="914400" cy="5486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
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Cumulative savings build, FY24 → FY26 ($M)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savings ($M)</c:v>
                </c:pt>
              </c:strCache>
            </c:strRef>
          </c:tx>
          <c:dPt>
            <c:idx val="0"/>
            <c:spPr>
              <a:solidFill>
                <a:srgbClr val="64748B"/>
              </a:solidFill>
            </c:spPr>
          </c:dPt>
          <c:dPt>
            <c:idx val="1"/>
            <c:spPr>
              <a:solidFill>
                <a:srgbClr val="0F766E"/>
              </a:solidFill>
            </c:spPr>
          </c:dPt>
          <c:dPt>
            <c:idx val="2"/>
            <c:spPr>
              <a:solidFill>
                <a:srgbClr val="F97316"/>
              </a:solidFill>
            </c:spPr>
          </c:dPt>
          <c:dPt>
            <c:idx val="3"/>
            <c:spPr>
              <a:solidFill>
                <a:srgbClr val="16A34A"/>
              </a:solidFill>
            </c:spPr>
          </c:dPt>
          <c:dPt>
            <c:idx val="4"/>
            <c:spPr>
              <a:solidFill>
                <a:srgbClr val="0EA5E9"/>
              </a:solidFill>
            </c:spPr>
          </c:dPt>
          <c:dPt>
            <c:idx val="5"/>
            <c:spPr>
              <a:solidFill>
                <a:srgbClr val="A855F7"/>
              </a:solidFill>
            </c:spPr>
          </c:dPt>
          <c:dPt>
            <c:idx val="6"/>
            <c:spPr>
              <a:solidFill>
                <a:srgbClr val="0F766E"/>
              </a:solidFill>
            </c:spPr>
          </c:dPt>
          <c:cat>
            <c:strRef>
              <c:f>Sheet1!$A$2:$A$8</c:f>
              <c:strCache>
                <c:ptCount val="7"/>
                <c:pt idx="0">
                  <c:v>FY24 base</c:v>
                </c:pt>
                <c:pt idx="1">
                  <c:v>Procurement</c:v>
                </c:pt>
                <c:pt idx="2">
                  <c:v>Lean / yield</c:v>
                </c:pt>
                <c:pt idx="3">
                  <c:v>Logistics</c:v>
                </c:pt>
                <c:pt idx="4">
                  <c:v>Energy</c:v>
                </c:pt>
                <c:pt idx="5">
                  <c:v>Automation</c:v>
                </c:pt>
                <c:pt idx="6">
                  <c:v>FY26 total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148</c:v>
                </c:pt>
                <c:pt idx="1">
                  <c:v>184</c:v>
                </c:pt>
                <c:pt idx="2">
                  <c:v>224</c:v>
                </c:pt>
                <c:pt idx="3">
                  <c:v>248</c:v>
                </c:pt>
                <c:pt idx="4">
                  <c:v>268</c:v>
                </c:pt>
                <c:pt idx="5">
                  <c:v>298</c:v>
                </c:pt>
                <c:pt idx="6">
                  <c:v>314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Defects per million opportunities (DPMO)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DPMO</c:v>
                </c:pt>
              </c:strCache>
            </c:strRef>
          </c:tx>
          <c:spPr>
            <a:solidFill>
              <a:srgbClr val="0F766E"/>
            </a:solidFill>
          </c:spPr>
          <c:marker>
            <c:symbol val="none"/>
          </c:marker>
          <c:cat>
            <c:strRef>
              <c:f>Sheet1!$A$2:$A$17</c:f>
              <c:strCache>
                <c:ptCount val="16"/>
                <c:pt idx="0">
                  <c:v>FY23 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FY24 Q1</c:v>
                </c:pt>
                <c:pt idx="5">
                  <c:v>Q2</c:v>
                </c:pt>
                <c:pt idx="6">
                  <c:v>Q3</c:v>
                </c:pt>
                <c:pt idx="7">
                  <c:v>Q4</c:v>
                </c:pt>
                <c:pt idx="8">
                  <c:v>FY25 Q1</c:v>
                </c:pt>
                <c:pt idx="9">
                  <c:v>Q2</c:v>
                </c:pt>
                <c:pt idx="10">
                  <c:v>Q3</c:v>
                </c:pt>
                <c:pt idx="11">
                  <c:v>Q4</c:v>
                </c:pt>
                <c:pt idx="12">
                  <c:v>FY26 Q1</c:v>
                </c:pt>
                <c:pt idx="13">
                  <c:v>Q2</c:v>
                </c:pt>
                <c:pt idx="14">
                  <c:v>Q3</c:v>
                </c:pt>
                <c:pt idx="15">
                  <c:v>Q4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3120</c:v>
                </c:pt>
                <c:pt idx="1">
                  <c:v>3050</c:v>
                </c:pt>
                <c:pt idx="2">
                  <c:v>2940</c:v>
                </c:pt>
                <c:pt idx="3">
                  <c:v>2880</c:v>
                </c:pt>
                <c:pt idx="4">
                  <c:v>2780</c:v>
                </c:pt>
                <c:pt idx="5">
                  <c:v>2620</c:v>
                </c:pt>
                <c:pt idx="6">
                  <c:v>2510</c:v>
                </c:pt>
                <c:pt idx="7">
                  <c:v>2440</c:v>
                </c:pt>
                <c:pt idx="8">
                  <c:v>2350</c:v>
                </c:pt>
                <c:pt idx="9">
                  <c:v>2280</c:v>
                </c:pt>
                <c:pt idx="10">
                  <c:v>2150</c:v>
                </c:pt>
                <c:pt idx="11">
                  <c:v>2080</c:v>
                </c:pt>
                <c:pt idx="12">
                  <c:v>2010</c:v>
                </c:pt>
                <c:pt idx="13">
                  <c:v>1940</c:v>
                </c:pt>
                <c:pt idx="14">
                  <c:v>1890</c:v>
                </c:pt>
                <c:pt idx="15">
                  <c:v>1820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Supply-chain performance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Inventory turns</c:v>
                </c:pt>
              </c:strCache>
            </c:strRef>
          </c:tx>
          <c:spPr>
            <a:solidFill>
              <a:srgbClr val="0F766E"/>
            </a:solidFill>
          </c:spPr>
          <c:cat>
            <c:strRef>
              <c:f>Sheet1!$A$2:$A$5</c:f>
              <c:strCache>
                <c:ptCount val="4"/>
                <c:pt idx="0">
                  <c:v>FY23</c:v>
                </c:pt>
                <c:pt idx="1">
                  <c:v>FY24</c:v>
                </c:pt>
                <c:pt idx="2">
                  <c:v>FY25</c:v>
                </c:pt>
                <c:pt idx="3">
                  <c:v>FY26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4.2</c:v>
                </c:pt>
                <c:pt idx="1">
                  <c:v>4.5</c:v>
                </c:pt>
                <c:pt idx="2">
                  <c:v>4.9</c:v>
                </c:pt>
                <c:pt idx="3">
                  <c:v>5.4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On-time-in-full %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Sheet1!$A$2:$A$5</c:f>
              <c:strCache>
                <c:ptCount val="4"/>
                <c:pt idx="0">
                  <c:v>FY23</c:v>
                </c:pt>
                <c:pt idx="1">
                  <c:v>FY24</c:v>
                </c:pt>
                <c:pt idx="2">
                  <c:v>FY25</c:v>
                </c:pt>
                <c:pt idx="3">
                  <c:v>FY26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93</c:v>
                </c:pt>
                <c:pt idx="3">
                  <c:v>94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gradFill rotWithShape="1">
            <a:gsLst>
              <a:gs pos="0">
                <a:srgbClr val="0F766E"/>
              </a:gs>
              <a:gs pos="100000">
                <a:srgbClr val="0F172A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0"/>
            <a:ext cx="109728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97316"/>
                </a:solidFill>
                <a:latin typeface="Inter"/>
              </a:defRPr>
            </a:pPr>
            <a:r>
              <a:rPr/>
              <a:t>OPERATIONAL EXCELLENCE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4297680" cy="2926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sz="4400" b="1" i="0">
                <a:latin typeface="Inter"/>
              </a:rPr>
              <a:t>From cost-out to capability.</a:t>
            </a:r>
            <a:endParaRPr sz="4400" b="1" i="0"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0" y="2377440"/>
            <a:ext cx="6217920" cy="2194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2800" b="0" i="0">
                <a:latin typeface="Inter"/>
              </a:rPr>
              <a:t>Year three of our enterprise operating system. $314M of cumulative savings, 4.6 sigma quality, and the industry's safest plant network.</a:t>
            </a:r>
            <a:endParaRPr sz="2800" b="0" i="0"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0" y="5303520"/>
            <a:ext cx="6217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Inter"/>
              </a:defRPr>
            </a:pPr>
            <a:r>
              <a:rPr/>
              <a:t>Sandra Okolie, Chief Operating Officer</a:t>
            </a:r>
          </a:p>
          <a:p>
            <a:pPr>
              <a:defRPr sz="1200">
                <a:solidFill>
                  <a:srgbClr val="64748B"/>
                </a:solidFill>
                <a:latin typeface="Inter"/>
              </a:defRPr>
            </a:pPr>
            <a:r>
              <a:rPr/>
              <a:t>FY26 Annual Update  •  COO Staff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0F766E"/>
                </a:solidFill>
                <a:latin typeface="Inter"/>
              </a:rPr>
              <a:t>Three years of compounding gains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2602153" cy="1737360"/>
          </a:xfrm>
          <a:prstGeom prst="roundRect">
            <a:avLst/>
          </a:prstGeom>
          <a:solidFill>
            <a:srgbClr val="F0FDFA"/>
          </a:solidFill>
          <a:ln w="9525">
            <a:solidFill>
              <a:srgbClr val="64748B"/>
            </a:solidFill>
          </a:ln>
          <a:effectLst>
            <a:outerShdw dist="50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874520"/>
            <a:ext cx="2602153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0F766E"/>
                </a:solidFill>
                <a:latin typeface="Inter"/>
              </a:rPr>
              <a:t>$314M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260215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rgbClr val="64748B"/>
                </a:solidFill>
                <a:latin typeface="Inter"/>
              </a:rPr>
              <a:t>Cumulative savings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260215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6A34A"/>
                </a:solidFill>
                <a:latin typeface="Inter"/>
              </a:rPr>
              <a:t>+34%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79393" y="1645920"/>
            <a:ext cx="2602153" cy="1737360"/>
          </a:xfrm>
          <a:prstGeom prst="roundRect">
            <a:avLst/>
          </a:prstGeom>
          <a:solidFill>
            <a:srgbClr val="F0FDFA"/>
          </a:solidFill>
          <a:ln w="9525">
            <a:solidFill>
              <a:srgbClr val="64748B"/>
            </a:solidFill>
          </a:ln>
          <a:effectLst>
            <a:outerShdw dist="50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379393" y="1874520"/>
            <a:ext cx="2602153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0F766E"/>
                </a:solidFill>
                <a:latin typeface="Inter"/>
              </a:rPr>
              <a:t>82%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79393" y="2651760"/>
            <a:ext cx="260215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rgbClr val="64748B"/>
                </a:solidFill>
                <a:latin typeface="Inter"/>
              </a:rPr>
              <a:t>OEE (network-wide)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9393" y="3017520"/>
            <a:ext cx="260215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6A34A"/>
                </a:solidFill>
                <a:latin typeface="Inter"/>
              </a:rPr>
              <a:t>+10%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146" y="1645920"/>
            <a:ext cx="2602153" cy="1737360"/>
          </a:xfrm>
          <a:prstGeom prst="roundRect">
            <a:avLst/>
          </a:prstGeom>
          <a:solidFill>
            <a:srgbClr val="F0FDFA"/>
          </a:solidFill>
          <a:ln w="9525">
            <a:solidFill>
              <a:srgbClr val="64748B"/>
            </a:solidFill>
          </a:ln>
          <a:effectLst>
            <a:outerShdw dist="50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0146" y="1874520"/>
            <a:ext cx="2602153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0F766E"/>
                </a:solidFill>
                <a:latin typeface="Inter"/>
              </a:rPr>
              <a:t>1,820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0146" y="2651760"/>
            <a:ext cx="260215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rgbClr val="64748B"/>
                </a:solidFill>
                <a:latin typeface="Inter"/>
              </a:rPr>
              <a:t>DPMO (defects)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0146" y="3017520"/>
            <a:ext cx="260215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DC2626"/>
                </a:solidFill>
                <a:latin typeface="Inter"/>
              </a:rPr>
              <a:t>−41%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40899" y="1645920"/>
            <a:ext cx="2602153" cy="1737360"/>
          </a:xfrm>
          <a:prstGeom prst="roundRect">
            <a:avLst/>
          </a:prstGeom>
          <a:solidFill>
            <a:srgbClr val="F0FDFA"/>
          </a:solidFill>
          <a:ln w="9525">
            <a:solidFill>
              <a:srgbClr val="64748B"/>
            </a:solidFill>
          </a:ln>
          <a:effectLst>
            <a:outerShdw dist="50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040899" y="1874520"/>
            <a:ext cx="2602153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0F766E"/>
                </a:solidFill>
                <a:latin typeface="Inter"/>
              </a:rPr>
              <a:t>0.42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40899" y="2651760"/>
            <a:ext cx="260215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rgbClr val="64748B"/>
                </a:solidFill>
                <a:latin typeface="Inter"/>
              </a:rPr>
              <a:t>TRIR (safety)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40899" y="3017520"/>
            <a:ext cx="260215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DC2626"/>
                </a:solidFill>
                <a:latin typeface="Inter"/>
              </a:rPr>
              <a:t>−36%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Inter"/>
              </a:defRPr>
            </a:pPr>
            <a:r>
              <a:rPr/>
              <a:t>Operational Excellence  |  FY26 Annual Update  |  Internal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Inter"/>
              </a:defRPr>
            </a:pPr>
            <a:r>
              <a:rPr/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97316"/>
                </a:solidFill>
                <a:latin typeface="Inter"/>
              </a:defRPr>
            </a:pPr>
            <a:r>
              <a:rPr/>
              <a:t>COST-OUT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3200" b="1" i="0">
                <a:latin typeface="Inter"/>
              </a:rPr>
              <a:t>How we got from $148M to $314M cumulative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554480"/>
          <a:ext cx="77724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595360" y="1554480"/>
            <a:ext cx="3108960" cy="4572000"/>
          </a:xfrm>
          <a:prstGeom prst="roundRect">
            <a:avLst/>
          </a:prstGeom>
          <a:solidFill>
            <a:srgbClr val="F0FDFA"/>
          </a:solidFill>
          <a:ln>
            <a:noFill/>
          </a:ln>
          <a:effectLst>
            <a:outerShdw blurRad="228600" dist="50800" dir="540000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>
              <a:defRPr sz="1800" b="1">
                <a:solidFill>
                  <a:srgbClr val="0F766E"/>
                </a:solidFill>
                <a:latin typeface="Inter"/>
              </a:defRPr>
            </a:pPr>
            <a:r>
              <a:rPr/>
              <a:t>Standout drivers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rPr/>
              <a:t>Procurement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rPr/>
              <a:t>Strategic sourcing wave 3 — 6.4% unit-cost reduction.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rPr/>
              <a:t>Yield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rPr/>
              <a:t>Plant-7 first-pass yield from 88% to 94%.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rPr/>
              <a:t>Energy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rPr/>
              <a:t>Site-level PPAs cut energy spend 11% YoY.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rPr/>
              <a:t>Automation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rPr/>
              <a:t>13 robotic cells deployed; payback &lt; 14 months.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Inter"/>
              </a:defRPr>
            </a:pPr>
            <a:r>
              <a:rPr/>
              <a:t>Operational Excellence  |  FY26 Annual Update  |  Internal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Inter"/>
              </a:defRPr>
            </a:pPr>
            <a:r>
              <a:rPr/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97316"/>
                </a:solidFill>
                <a:latin typeface="Inter"/>
              </a:defRPr>
            </a:pPr>
            <a:r>
              <a:rPr/>
              <a:t>PLANT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3200" b="1" i="0">
                <a:latin typeface="Inter"/>
              </a:rPr>
              <a:t>OEE by site — five hit target, two need attention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08813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280160"/>
                <a:gridCol w="1280160"/>
                <a:gridCol w="1280160"/>
                <a:gridCol w="1280160"/>
                <a:gridCol w="1554480"/>
                <a:gridCol w="1463040"/>
              </a:tblGrid>
              <a:tr h="53721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Site</a:t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Avail.</a:t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Perf.</a:t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Quality</a:t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OEE</a:t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vs. Target</a:t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Plant 1 — Pune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94%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92%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99.1%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85.7%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A34A"/>
                          </a:solidFill>
                        </a:defRPr>
                      </a:pPr>
                      <a:r>
                        <a:t>+0.7 pp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ON TARGET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16A34A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Plant 2 — Monterrey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91%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89%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98.7%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79.9%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DC2626"/>
                          </a:solidFill>
                        </a:defRPr>
                      </a:pPr>
                      <a:r>
                        <a:t>−5.1 pp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BEHIND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DC2626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Plant 3 — Cleveland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95%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93%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99.4%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87.7%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A34A"/>
                          </a:solidFill>
                        </a:defRPr>
                      </a:pPr>
                      <a:r>
                        <a:t>+2.7 pp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ON TARGET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16A34A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Plant 4 — Lyon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92%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90%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99.0%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82.0%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DC2626"/>
                          </a:solidFill>
                        </a:defRPr>
                      </a:pPr>
                      <a:r>
                        <a:t>−3.0 pp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WATCH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59E0B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Plant 5 — Ulsan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96%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94%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99.6%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89.8%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A34A"/>
                          </a:solidFill>
                        </a:defRPr>
                      </a:pPr>
                      <a:r>
                        <a:t>+4.8 pp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ON TARGET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16A34A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Plant 6 — Riyadh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93%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91%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98.9%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83.6%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DC2626"/>
                          </a:solidFill>
                        </a:defRPr>
                      </a:pPr>
                      <a:r>
                        <a:t>−1.4 pp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WATCH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59E0B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Plant 7 — Greenville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94%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92%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99.2%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85.8%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A34A"/>
                          </a:solidFill>
                        </a:defRPr>
                      </a:pPr>
                      <a:r>
                        <a:t>+0.8 pp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ON TARGET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16A34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Inter"/>
              </a:defRPr>
            </a:pPr>
            <a:r>
              <a:rPr/>
              <a:t>Operational Excellence  |  FY26 Annual Update  | 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Inter"/>
              </a:defRPr>
            </a:pPr>
            <a:r>
              <a:rPr/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97316"/>
                </a:solidFill>
                <a:latin typeface="Inter"/>
              </a:defRPr>
            </a:pPr>
            <a:r>
              <a:rPr/>
              <a:t>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3200" b="1" i="0">
                <a:latin typeface="Inter"/>
              </a:rPr>
              <a:t>Defects-per-million down 41% over three years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554480"/>
          <a:ext cx="1106424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Inter"/>
              </a:defRPr>
            </a:pPr>
            <a:r>
              <a:rPr/>
              <a:t>Operational Excellence  |  FY26 Annual Update  | 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Inter"/>
              </a:defRPr>
            </a:pPr>
            <a:r>
              <a:rPr/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97316"/>
                </a:solidFill>
                <a:latin typeface="Inter"/>
              </a:defRPr>
            </a:pPr>
            <a:r>
              <a:rPr/>
              <a:t>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3200" b="1" i="0">
                <a:latin typeface="Inter"/>
              </a:rPr>
              <a:t>Lowest TRIR in our industry — but not yet zero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269748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/>
          <a:lstStyle/>
          <a:p>
            <a:pPr>
              <a:defRPr sz="2800" b="1">
                <a:solidFill>
                  <a:srgbClr val="0F766E"/>
                </a:solidFill>
                <a:latin typeface="Inter"/>
              </a:defRPr>
            </a:pPr>
            <a:r>
              <a:rPr/>
              <a:t>0.42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rPr/>
              <a:t>Total Recordable Injury Rate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691640"/>
            <a:ext cx="269748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/>
          <a:lstStyle/>
          <a:p>
            <a:pPr>
              <a:defRPr sz="2800" b="1">
                <a:solidFill>
                  <a:srgbClr val="0F766E"/>
                </a:solidFill>
                <a:latin typeface="Inter"/>
              </a:defRPr>
            </a:pPr>
            <a:r>
              <a:rPr/>
              <a:t>0.08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rPr/>
              <a:t>Lost-time injury 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46120"/>
            <a:ext cx="269748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/>
          <a:lstStyle/>
          <a:p>
            <a:pPr>
              <a:defRPr sz="2800" b="1">
                <a:solidFill>
                  <a:srgbClr val="0F766E"/>
                </a:solidFill>
                <a:latin typeface="Inter"/>
              </a:defRPr>
            </a:pPr>
            <a:r>
              <a:rPr/>
              <a:t>0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rPr/>
              <a:t>Fatalities (3 yrs running)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3246120"/>
            <a:ext cx="269748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/>
          <a:lstStyle/>
          <a:p>
            <a:pPr>
              <a:defRPr sz="2800" b="1">
                <a:solidFill>
                  <a:srgbClr val="0F766E"/>
                </a:solidFill>
                <a:latin typeface="Inter"/>
              </a:defRPr>
            </a:pPr>
            <a:r>
              <a:rPr/>
              <a:t>412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rPr/>
              <a:t>Days since last lost-time event (Plant 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Inter"/>
              </a:defRPr>
            </a:pPr>
            <a:r>
              <a:rPr/>
              <a:t>Behaviour-based safety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rPr/>
              <a:t>Daily 5-minute pre-shift safety conversation rolled out at all 7 plants.</a:t>
            </a:r>
          </a:p>
          <a:p>
            <a:pPr>
              <a:spcBef>
                <a:spcPts val="800"/>
              </a:spcBef>
              <a:defRPr sz="1400" b="1">
                <a:solidFill>
                  <a:srgbClr val="0F172A"/>
                </a:solidFill>
              </a:defRPr>
            </a:pPr>
            <a:r>
              <a:rPr/>
              <a:t>Critical-risk audits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rPr/>
              <a:t>Energy-isolation procedures audited 4× per shift; failures down 84%.</a:t>
            </a:r>
          </a:p>
          <a:p>
            <a:pPr>
              <a:spcBef>
                <a:spcPts val="800"/>
              </a:spcBef>
              <a:defRPr sz="1400" b="1">
                <a:solidFill>
                  <a:srgbClr val="0F172A"/>
                </a:solidFill>
              </a:defRPr>
            </a:pPr>
            <a:r>
              <a:rPr/>
              <a:t>Visible felt leadership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rPr/>
              <a:t>Plant managers walk the line minimum 2 hours per day; logged weekly.</a:t>
            </a:r>
          </a:p>
          <a:p>
            <a:pPr>
              <a:spcBef>
                <a:spcPts val="800"/>
              </a:spcBef>
              <a:defRPr sz="1400" b="1">
                <a:solidFill>
                  <a:srgbClr val="0F172A"/>
                </a:solidFill>
              </a:defRPr>
            </a:pPr>
            <a:r>
              <a:rPr/>
              <a:t>Near-miss reporting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rPr/>
              <a:t>Up 220% — engaged workforce surfaces issues before they become events.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Inter"/>
              </a:defRPr>
            </a:pPr>
            <a:r>
              <a:rPr/>
              <a:t>Operational Excellence  |  FY26 Annual Update  |  Internal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Inter"/>
              </a:defRPr>
            </a:pPr>
            <a:r>
              <a:rPr/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97316"/>
                </a:solidFill>
                <a:latin typeface="Inter"/>
              </a:defRPr>
            </a:pPr>
            <a:r>
              <a:rPr/>
              <a:t>SUPPLY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3200" b="1" i="0">
                <a:latin typeface="Inter"/>
              </a:rPr>
              <a:t>Inventory turns up; on-time delivery up 6 pts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554480"/>
          <a:ext cx="1106424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Inter"/>
              </a:defRPr>
            </a:pPr>
            <a:r>
              <a:rPr/>
              <a:t>Operational Excellence  |  FY26 Annual Update  | 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Inter"/>
              </a:defRPr>
            </a:pPr>
            <a:r>
              <a:rPr/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97316"/>
                </a:solidFill>
                <a:latin typeface="Inter"/>
              </a:defRPr>
            </a:pPr>
            <a:r>
              <a:rPr/>
              <a:t>CAPABILITY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3200" b="1" i="0">
                <a:latin typeface="Inter"/>
              </a:rPr>
              <a:t>We're building operating-system fluency, not slogans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532120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52400" bIns="152400">
            <a:normAutofit/>
          </a:bodyPr>
          <a:lstStyle/>
          <a:p>
            <a:pPr>
              <a:defRPr sz="1600" b="1">
                <a:solidFill>
                  <a:srgbClr val="0F766E"/>
                </a:solidFill>
                <a:latin typeface="Inter"/>
              </a:defRPr>
            </a:pPr>
            <a:r>
              <a:rPr/>
              <a:t>412 Green Belts certified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</a:defRPr>
            </a:pPr>
            <a:r>
              <a:rPr/>
              <a:t>Active project portfolio worth $84M of run-rate savings.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91640"/>
            <a:ext cx="5532120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52400" bIns="152400">
            <a:normAutofit/>
          </a:bodyPr>
          <a:lstStyle/>
          <a:p>
            <a:pPr>
              <a:defRPr sz="1600" b="1">
                <a:solidFill>
                  <a:srgbClr val="0F766E"/>
                </a:solidFill>
                <a:latin typeface="Inter"/>
              </a:defRPr>
            </a:pPr>
            <a:r>
              <a:rPr/>
              <a:t>38 Black Belts active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</a:defRPr>
            </a:pPr>
            <a:r>
              <a:rPr/>
              <a:t>Each leads multi-site initiatives ranging from $4M to $20M.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08960"/>
            <a:ext cx="5532120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52400" bIns="152400">
            <a:normAutofit/>
          </a:bodyPr>
          <a:lstStyle/>
          <a:p>
            <a:pPr>
              <a:defRPr sz="1600" b="1">
                <a:solidFill>
                  <a:srgbClr val="0F766E"/>
                </a:solidFill>
                <a:latin typeface="Inter"/>
              </a:defRPr>
            </a:pPr>
            <a:r>
              <a:rPr/>
              <a:t>Daily management at every level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</a:defRPr>
            </a:pPr>
            <a:r>
              <a:rPr/>
              <a:t>Tier-1 huddle on the floor → Tier-4 review with the CEO every Friday.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108960"/>
            <a:ext cx="5532120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52400" bIns="152400">
            <a:normAutofit/>
          </a:bodyPr>
          <a:lstStyle/>
          <a:p>
            <a:pPr>
              <a:defRPr sz="1600" b="1">
                <a:solidFill>
                  <a:srgbClr val="0F766E"/>
                </a:solidFill>
                <a:latin typeface="Inter"/>
              </a:defRPr>
            </a:pPr>
            <a:r>
              <a:rPr/>
              <a:t>Operating-system playbook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</a:defRPr>
            </a:pPr>
            <a:r>
              <a:rPr/>
              <a:t>Standardised across all 7 plants; transferred to Meridian post-close.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526280"/>
            <a:ext cx="11064240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52400" bIns="152400">
            <a:normAutofit/>
          </a:bodyPr>
          <a:lstStyle/>
          <a:p>
            <a:pPr>
              <a:defRPr sz="1600" b="1">
                <a:solidFill>
                  <a:srgbClr val="0F766E"/>
                </a:solidFill>
                <a:latin typeface="Inter"/>
              </a:defRPr>
            </a:pPr>
            <a:r>
              <a:rPr/>
              <a:t>Frontline training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</a:defRPr>
            </a:pPr>
            <a:r>
              <a:rPr/>
              <a:t>120 hours / operator / year — up from 40 hours three years ago.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Inter"/>
              </a:defRPr>
            </a:pPr>
            <a:r>
              <a:rPr/>
              <a:t>Operational Excellence  |  FY26 Annual Update  |  Internal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Inter"/>
              </a:defRPr>
            </a:pPr>
            <a:r>
              <a:rPr/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97316"/>
                </a:solidFill>
                <a:latin typeface="Inter"/>
              </a:defRPr>
            </a:pPr>
            <a:r>
              <a:rPr/>
              <a:t>FY27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3200" b="1" i="0">
                <a:latin typeface="Inter"/>
              </a:rPr>
              <a:t>What we're signing up for next year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468880"/>
                <a:gridCol w="2468880"/>
                <a:gridCol w="2468880"/>
              </a:tblGrid>
              <a:tr h="52578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FY26 actual</a:t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FY27 commit</a:t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Owner</a:t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Cumulative savings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$314M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766E"/>
                          </a:solidFill>
                        </a:defRPr>
                      </a:pPr>
                      <a:r>
                        <a:t>$390M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Site GMs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OEE network-wide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82%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766E"/>
                          </a:solidFill>
                        </a:defRPr>
                      </a:pPr>
                      <a:r>
                        <a:t>85%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Plant Directors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DF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DPMO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1,820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766E"/>
                          </a:solidFill>
                        </a:defRPr>
                      </a:pPr>
                      <a:r>
                        <a:t>&lt; 1,500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VP Quality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TRIR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0.42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766E"/>
                          </a:solidFill>
                        </a:defRPr>
                      </a:pPr>
                      <a:r>
                        <a:t>&lt; 0.35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VP EHS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DF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Inventory turns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5.4×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766E"/>
                          </a:solidFill>
                        </a:defRPr>
                      </a:pPr>
                      <a:r>
                        <a:t>6.0×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VP Supply Chain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On-time-in-full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94%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766E"/>
                          </a:solidFill>
                        </a:defRPr>
                      </a:pPr>
                      <a:r>
                        <a:t>96%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VP Customer Ops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DF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Energy intensity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−11% YoY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766E"/>
                          </a:solidFill>
                        </a:defRPr>
                      </a:pPr>
                      <a:r>
                        <a:t>−7% YoY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VP Sustainability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Inter"/>
              </a:defRPr>
            </a:pPr>
            <a:r>
              <a:rPr/>
              <a:t>Operational Excellence  |  FY26 Annual Update  | 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Inter"/>
              </a:defRPr>
            </a:pPr>
            <a:r>
              <a:rPr/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766E"/>
              </a:gs>
              <a:gs pos="100000">
                <a:srgbClr val="0F172A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1645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 sz="6000" b="1" i="0">
                <a:latin typeface="Inter"/>
              </a:rPr>
              <a:t>Operating systems compound.</a:t>
            </a:r>
            <a:endParaRPr sz="6000" b="1" i="0">
              <a:latin typeface="Inte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1033272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>
                <a:solidFill>
                  <a:srgbClr val="F97316"/>
                </a:solidFill>
              </a:defRPr>
            </a:pPr>
            <a:r>
              <a:rPr sz="2200" b="0" i="0">
                <a:latin typeface="Inter"/>
              </a:rPr>
              <a:t>FY27 target: $390M cumulative savings  •  85% OEE  •  TRIR &lt; 0.35</a:t>
            </a:r>
            <a:endParaRPr sz="2200" b="0" i="0">
              <a:latin typeface="Inter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41848" y="4114800"/>
            <a:ext cx="91440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
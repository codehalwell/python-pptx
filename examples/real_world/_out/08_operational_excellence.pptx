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Cumulative savings build, FY24 → FY26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savings ($M)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16A34A"/>
              </a:solidFill>
            </c:spPr>
          </c:dPt>
          <c:dPt>
            <c:idx val="4"/>
            <c:spPr>
              <a:solidFill>
                <a:srgbClr val="0EA5E9"/>
              </a:solidFill>
            </c:spPr>
          </c:dPt>
          <c:dPt>
            <c:idx val="5"/>
            <c:spPr>
              <a:solidFill>
                <a:srgbClr val="A855F7"/>
              </a:solidFill>
            </c:spPr>
          </c:dPt>
          <c:dPt>
            <c:idx val="6"/>
            <c:spPr>
              <a:solidFill>
                <a:srgbClr val="0F766E"/>
              </a:solidFill>
            </c:spPr>
          </c:dPt>
          <c:cat>
            <c:strRef>
              <c:f>Sheet1!$A$2:$A$8</c:f>
              <c:strCache>
                <c:ptCount val="7"/>
                <c:pt idx="0">
                  <c:v>FY24 base</c:v>
                </c:pt>
                <c:pt idx="1">
                  <c:v>Procurement</c:v>
                </c:pt>
                <c:pt idx="2">
                  <c:v>Lean / yield</c:v>
                </c:pt>
                <c:pt idx="3">
                  <c:v>Logistics</c:v>
                </c:pt>
                <c:pt idx="4">
                  <c:v>Energy</c:v>
                </c:pt>
                <c:pt idx="5">
                  <c:v>Automation</c:v>
                </c:pt>
                <c:pt idx="6">
                  <c:v>FY26 total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148</c:v>
                </c:pt>
                <c:pt idx="1">
                  <c:v>184</c:v>
                </c:pt>
                <c:pt idx="2">
                  <c:v>224</c:v>
                </c:pt>
                <c:pt idx="3">
                  <c:v>248</c:v>
                </c:pt>
                <c:pt idx="4">
                  <c:v>268</c:v>
                </c:pt>
                <c:pt idx="5">
                  <c:v>298</c:v>
                </c:pt>
                <c:pt idx="6">
                  <c:v>314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Defects per million opportunities (DPMO)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DPMO</c:v>
                </c:pt>
              </c:strCache>
            </c:strRef>
          </c:tx>
          <c:spPr>
            <a:solidFill>
              <a:srgbClr val="0F766E"/>
            </a:solidFill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FY23 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FY24 Q1</c:v>
                </c:pt>
                <c:pt idx="5">
                  <c:v>Q2</c:v>
                </c:pt>
                <c:pt idx="6">
                  <c:v>Q3</c:v>
                </c:pt>
                <c:pt idx="7">
                  <c:v>Q4</c:v>
                </c:pt>
                <c:pt idx="8">
                  <c:v>FY25 Q1</c:v>
                </c:pt>
                <c:pt idx="9">
                  <c:v>Q2</c:v>
                </c:pt>
                <c:pt idx="10">
                  <c:v>Q3</c:v>
                </c:pt>
                <c:pt idx="11">
                  <c:v>Q4</c:v>
                </c:pt>
                <c:pt idx="12">
                  <c:v>FY26 Q1</c:v>
                </c:pt>
                <c:pt idx="13">
                  <c:v>Q2</c:v>
                </c:pt>
                <c:pt idx="14">
                  <c:v>Q3</c:v>
                </c:pt>
                <c:pt idx="15">
                  <c:v>Q4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3120</c:v>
                </c:pt>
                <c:pt idx="1">
                  <c:v>3050</c:v>
                </c:pt>
                <c:pt idx="2">
                  <c:v>2940</c:v>
                </c:pt>
                <c:pt idx="3">
                  <c:v>2880</c:v>
                </c:pt>
                <c:pt idx="4">
                  <c:v>2780</c:v>
                </c:pt>
                <c:pt idx="5">
                  <c:v>2620</c:v>
                </c:pt>
                <c:pt idx="6">
                  <c:v>2510</c:v>
                </c:pt>
                <c:pt idx="7">
                  <c:v>2440</c:v>
                </c:pt>
                <c:pt idx="8">
                  <c:v>2350</c:v>
                </c:pt>
                <c:pt idx="9">
                  <c:v>2280</c:v>
                </c:pt>
                <c:pt idx="10">
                  <c:v>2150</c:v>
                </c:pt>
                <c:pt idx="11">
                  <c:v>2080</c:v>
                </c:pt>
                <c:pt idx="12">
                  <c:v>2010</c:v>
                </c:pt>
                <c:pt idx="13">
                  <c:v>1940</c:v>
                </c:pt>
                <c:pt idx="14">
                  <c:v>1890</c:v>
                </c:pt>
                <c:pt idx="15">
                  <c:v>1820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Supply-chain performance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Inventory turns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FY26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</c:v>
                </c:pt>
                <c:pt idx="1">
                  <c:v>4.5</c:v>
                </c:pt>
                <c:pt idx="2">
                  <c:v>4.9</c:v>
                </c:pt>
                <c:pt idx="3">
                  <c:v>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On-time-in-full %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Sheet1!$A$2:$A$5</c:f>
              <c:strCache>
                <c:ptCount val="4"/>
                <c:pt idx="0">
                  <c:v>FY23</c:v>
                </c:pt>
                <c:pt idx="1">
                  <c:v>FY24</c:v>
                </c:pt>
                <c:pt idx="2">
                  <c:v>FY25</c:v>
                </c:pt>
                <c:pt idx="3">
                  <c:v>FY26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90</c:v>
                </c:pt>
                <c:pt idx="2">
                  <c:v>93</c:v>
                </c:pt>
                <c:pt idx="3">
                  <c:v>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0F766E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97316"/>
                </a:solidFill>
                <a:latin typeface="Inter"/>
              </a:defRPr>
            </a:pPr>
            <a:r>
              <a:rPr/>
              <a:t>OPERATIONAL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From cost-out to capability.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Year three of our enterprise operating system. $314M of cumulative savings, 4.6 sigma quality, and the industry's safest plant network.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Sandra Okolie, Chief Operating Officer</a:t>
            </a:r>
          </a:p>
          <a:p>
            <a:pPr>
              <a:defRPr sz="1200">
                <a:solidFill>
                  <a:srgbClr val="64748B"/>
                </a:solidFill>
                <a:latin typeface="Inter"/>
              </a:defRPr>
            </a:pPr>
            <a:r>
              <a:rPr/>
              <a:t>FY26 Annual Update  •  COO Staff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F766E"/>
                </a:solidFill>
                <a:latin typeface="Inter"/>
              </a:rPr>
              <a:t>Three years of compounding gains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766E"/>
                </a:solidFill>
                <a:latin typeface="Inter"/>
              </a:rPr>
              <a:t>$314M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Cumulative savings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+34%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766E"/>
                </a:solidFill>
                <a:latin typeface="Inter"/>
              </a:rPr>
              <a:t>82%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OEE (network-wide)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766E"/>
                </a:solidFill>
                <a:latin typeface="Inter"/>
              </a:rPr>
              <a:t>1,820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DPMO (defects)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−41%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0F766E"/>
                </a:solidFill>
                <a:latin typeface="Inter"/>
              </a:rPr>
              <a:t>0.42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TRIR (safety)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−36%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COST-OUT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How we got from $148M to $314M cumulative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0FDFA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0F766E"/>
                </a:solidFill>
                <a:latin typeface="Inter"/>
              </a:defRPr>
            </a:pPr>
            <a:r>
              <a:rPr/>
              <a:t>Standout drivers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Procurement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Strategic sourcing wave 3 — 6.4% unit-cost reduction.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Yield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Plant-7 first-pass yield from 88% to 94%.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Energy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Site-level PPAs cut energy spend 11% YoY.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Automation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13 robotic cells deployed; payback &lt; 14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PLANT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OEE by site — five hit target, two need attention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  <a:gridCol w="1280160"/>
                <a:gridCol w="1280160"/>
                <a:gridCol w="1554480"/>
                <a:gridCol w="1463040"/>
              </a:tblGrid>
              <a:tr h="53721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Site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Avail.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Perf.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Quality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OEE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vs. Target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1 — Pune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99.1%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85.7%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+0.7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TARGET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2 — Monterrey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89%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98.7%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79.9%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</a:defRPr>
                      </a:pPr>
                      <a:r>
                        <a:t>−5.1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BEHIND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DC262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3 — Cleveland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99.4%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87.7%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+2.7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TARGET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4 — Lyon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99.0%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82.0%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</a:defRPr>
                      </a:pPr>
                      <a:r>
                        <a:t>−3.0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WATCH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5 — Ulsan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99.6%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89.8%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+4.8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TARGET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6 — Riyadh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93%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91%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98.9%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83.6%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DC2626"/>
                          </a:solidFill>
                        </a:defRPr>
                      </a:pPr>
                      <a:r>
                        <a:t>−1.4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WATCH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9E0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Plant 7 — Greenville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99.2%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F172A"/>
                          </a:solidFill>
                        </a:defRPr>
                      </a:pPr>
                      <a:r>
                        <a:t>85.8%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6A34A"/>
                          </a:solidFill>
                        </a:defRPr>
                      </a:pPr>
                      <a:r>
                        <a:t>+0.8 pp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ON TARGET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Defects-per-million down 41% over three years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Lowest TRIR in our industry — but not yet zero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0F766E"/>
                </a:solidFill>
                <a:latin typeface="Inter"/>
              </a:defRPr>
            </a:pPr>
            <a:r>
              <a:rPr/>
              <a:t>0.42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Total Recordable Injury 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69164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0F766E"/>
                </a:solidFill>
                <a:latin typeface="Inter"/>
              </a:defRPr>
            </a:pPr>
            <a:r>
              <a:rPr/>
              <a:t>0.08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Lost-time injury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0F766E"/>
                </a:solidFill>
                <a:latin typeface="Inter"/>
              </a:defRPr>
            </a:pPr>
            <a:r>
              <a:rPr/>
              <a:t>0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Fatalities (3 yrs running)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3246120"/>
            <a:ext cx="26974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/>
          <a:lstStyle/>
          <a:p>
            <a:pPr>
              <a:defRPr sz="2800" b="1">
                <a:solidFill>
                  <a:srgbClr val="0F766E"/>
                </a:solidFill>
                <a:latin typeface="Inter"/>
              </a:defRPr>
            </a:pPr>
            <a:r>
              <a:rPr/>
              <a:t>412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rPr/>
              <a:t>Days since last lost-time event (Plant 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Behaviour-based safety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Daily 5-minute pre-shift safety conversation rolled out at all 7 plants.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rPr/>
              <a:t>Critical-risk audits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Energy-isolation procedures audited 4× per shift; failures down 84%.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rPr/>
              <a:t>Visible felt leadership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Plant managers walk the line minimum 2 hours per day; logged weekly.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rPr/>
              <a:t>Near-miss reporting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rPr/>
              <a:t>Up 220% — engaged workforce surfaces issues before they become events.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Inventory turns up; on-time delivery up 6 pts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We're building operating-system fluency, not slogans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 bIns="152400">
            <a:normAutofit/>
          </a:bodyPr>
          <a:lstStyle/>
          <a:p>
            <a:pPr>
              <a:defRPr sz="1600" b="1">
                <a:solidFill>
                  <a:srgbClr val="0F766E"/>
                </a:solidFill>
                <a:latin typeface="Inter"/>
              </a:defRPr>
            </a:pPr>
            <a:r>
              <a:rPr/>
              <a:t>412 Green Belts certified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rPr/>
              <a:t>Active project portfolio worth $84M of run-rate savings.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5321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 bIns="152400">
            <a:normAutofit/>
          </a:bodyPr>
          <a:lstStyle/>
          <a:p>
            <a:pPr>
              <a:defRPr sz="1600" b="1">
                <a:solidFill>
                  <a:srgbClr val="0F766E"/>
                </a:solidFill>
                <a:latin typeface="Inter"/>
              </a:defRPr>
            </a:pPr>
            <a:r>
              <a:rPr/>
              <a:t>38 Black Belts active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rPr/>
              <a:t>Each leads multi-site initiatives ranging from $4M to $20M.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08960"/>
            <a:ext cx="55321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 bIns="152400">
            <a:normAutofit/>
          </a:bodyPr>
          <a:lstStyle/>
          <a:p>
            <a:pPr>
              <a:defRPr sz="1600" b="1">
                <a:solidFill>
                  <a:srgbClr val="0F766E"/>
                </a:solidFill>
                <a:latin typeface="Inter"/>
              </a:defRPr>
            </a:pPr>
            <a:r>
              <a:rPr/>
              <a:t>Daily management at every level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rPr/>
              <a:t>Tier-1 huddle on the floor → Tier-4 review with the CEO every Friday.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108960"/>
            <a:ext cx="55321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 bIns="152400">
            <a:normAutofit/>
          </a:bodyPr>
          <a:lstStyle/>
          <a:p>
            <a:pPr>
              <a:defRPr sz="1600" b="1">
                <a:solidFill>
                  <a:srgbClr val="0F766E"/>
                </a:solidFill>
                <a:latin typeface="Inter"/>
              </a:defRPr>
            </a:pPr>
            <a:r>
              <a:rPr/>
              <a:t>Operating-system playbook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rPr/>
              <a:t>Standardised across all 7 plants; transferred to Meridian post-close.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26280"/>
            <a:ext cx="110642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 bIns="152400">
            <a:normAutofit/>
          </a:bodyPr>
          <a:lstStyle/>
          <a:p>
            <a:pPr>
              <a:defRPr sz="1600" b="1">
                <a:solidFill>
                  <a:srgbClr val="0F766E"/>
                </a:solidFill>
                <a:latin typeface="Inter"/>
              </a:defRPr>
            </a:pPr>
            <a:r>
              <a:rPr/>
              <a:t>Frontline training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rPr/>
              <a:t>120 hours / operator / year — up from 40 hours three years ago.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Inter"/>
              </a:defRPr>
            </a:pPr>
            <a:r>
              <a:rPr/>
              <a:t>FY27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we're signing up for next year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46888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FY26 actual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FY27 commit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Owner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Cumulative savings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$314M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$390M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Site GMs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OEE network-wide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Plant Directors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DPMO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1,820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&lt; 1,500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VP Quality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TRIR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0.42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&lt; 0.35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VP EHS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Inventory turns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5.4×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6.0×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VP Supply Chain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On-time-in-full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96%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VP Customer Ops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0FD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Energy intensity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−11% YoY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766E"/>
                          </a:solidFill>
                        </a:defRPr>
                      </a:pPr>
                      <a:r>
                        <a:t>−7% YoY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F172A"/>
                          </a:solidFill>
                        </a:defRPr>
                      </a:pPr>
                      <a:r>
                        <a:t>VP Sustainability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Operational Excellence  |  FY26 Annual Update  |  Internal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766E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Operating systems compound.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97316"/>
                </a:solidFill>
              </a:defRPr>
            </a:pPr>
            <a:r>
              <a:rPr sz="2200" b="0" i="0">
                <a:latin typeface="Inter"/>
              </a:rPr>
              <a:t>FY27 target: $390M cumulative savings  •  85% OEE  •  TRIR &lt; 0.35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
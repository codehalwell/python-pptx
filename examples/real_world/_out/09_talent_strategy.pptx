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Engagement &amp; retention trajectory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eNPS</c:v>
                </c:pt>
              </c:strCache>
            </c:strRef>
          </c:tx>
          <c:spPr>
            <a:solidFill>
              <a:srgbClr val="9D174D"/>
            </a:solidFill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Q1 FY25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 FY26</c:v>
                </c:pt>
                <c:pt idx="5">
                  <c:v>Q2</c:v>
                </c:pt>
                <c:pt idx="6">
                  <c:v>Q3</c:v>
                </c:pt>
                <c:pt idx="7">
                  <c:v>Q4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</c:v>
                </c:pt>
                <c:pt idx="1">
                  <c:v>16</c:v>
                </c:pt>
                <c:pt idx="2">
                  <c:v>20</c:v>
                </c:pt>
                <c:pt idx="3">
                  <c:v>24</c:v>
                </c:pt>
                <c:pt idx="4">
                  <c:v>28</c:v>
                </c:pt>
                <c:pt idx="5">
                  <c:v>32</c:v>
                </c:pt>
                <c:pt idx="6">
                  <c:v>35</c:v>
                </c:pt>
                <c:pt idx="7">
                  <c:v>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Voluntary attrition % (×4 scale)</c:v>
                </c:pt>
              </c:strCache>
            </c:strRef>
          </c:tx>
          <c:spPr>
            <a:solidFill>
              <a:srgbClr val="F59E0B"/>
            </a:solidFill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Q1 FY25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 FY26</c:v>
                </c:pt>
                <c:pt idx="5">
                  <c:v>Q2</c:v>
                </c:pt>
                <c:pt idx="6">
                  <c:v>Q3</c:v>
                </c:pt>
                <c:pt idx="7">
                  <c:v>Q4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44</c:v>
                </c:pt>
                <c:pt idx="1">
                  <c:v>42</c:v>
                </c:pt>
                <c:pt idx="2">
                  <c:v>40</c:v>
                </c:pt>
                <c:pt idx="3">
                  <c:v>38</c:v>
                </c:pt>
                <c:pt idx="4">
                  <c:v>36</c:v>
                </c:pt>
                <c:pt idx="5">
                  <c:v>35</c:v>
                </c:pt>
                <c:pt idx="6">
                  <c:v>34</c:v>
                </c:pt>
                <c:pt idx="7">
                  <c:v>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Women in leadership (% of role)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FY24</c:v>
                </c:pt>
              </c:strCache>
            </c:strRef>
          </c:tx>
          <c:spPr>
            <a:solidFill>
              <a:srgbClr val="6B7280"/>
            </a:solidFill>
          </c:spPr>
          <c:cat>
            <c:strRef>
              <c:f>Sheet1!$A$2:$A$6</c:f>
              <c:strCache>
                <c:ptCount val="5"/>
                <c:pt idx="0">
                  <c:v>Frontline</c:v>
                </c:pt>
                <c:pt idx="1">
                  <c:v>Manager</c:v>
                </c:pt>
                <c:pt idx="2">
                  <c:v>Director</c:v>
                </c:pt>
                <c:pt idx="3">
                  <c:v>VP+</c:v>
                </c:pt>
                <c:pt idx="4">
                  <c:v>Officers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38</c:v>
                </c:pt>
                <c:pt idx="2">
                  <c:v>31</c:v>
                </c:pt>
                <c:pt idx="3">
                  <c:v>24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</c:v>
                </c:pt>
              </c:strCache>
            </c:strRef>
          </c:tx>
          <c:spPr>
            <a:solidFill>
              <a:srgbClr val="9D174D"/>
            </a:solidFill>
          </c:spPr>
          <c:cat>
            <c:strRef>
              <c:f>Sheet1!$A$2:$A$6</c:f>
              <c:strCache>
                <c:ptCount val="5"/>
                <c:pt idx="0">
                  <c:v>Frontline</c:v>
                </c:pt>
                <c:pt idx="1">
                  <c:v>Manager</c:v>
                </c:pt>
                <c:pt idx="2">
                  <c:v>Director</c:v>
                </c:pt>
                <c:pt idx="3">
                  <c:v>VP+</c:v>
                </c:pt>
                <c:pt idx="4">
                  <c:v>Officers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</c:v>
                </c:pt>
                <c:pt idx="1">
                  <c:v>43</c:v>
                </c:pt>
                <c:pt idx="2">
                  <c:v>37</c:v>
                </c:pt>
                <c:pt idx="3">
                  <c:v>31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FY29 target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Sheet1!$A$2:$A$6</c:f>
              <c:strCache>
                <c:ptCount val="5"/>
                <c:pt idx="0">
                  <c:v>Frontline</c:v>
                </c:pt>
                <c:pt idx="1">
                  <c:v>Manager</c:v>
                </c:pt>
                <c:pt idx="2">
                  <c:v>Director</c:v>
                </c:pt>
                <c:pt idx="3">
                  <c:v>VP+</c:v>
                </c:pt>
                <c:pt idx="4">
                  <c:v>Officers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50</c:v>
                </c:pt>
                <c:pt idx="1">
                  <c:v>50</c:v>
                </c:pt>
                <c:pt idx="2">
                  <c:v>45</c:v>
                </c:pt>
                <c:pt idx="3">
                  <c:v>40</c:v>
                </c:pt>
                <c:pt idx="4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9D174D"/>
              </a:gs>
              <a:gs pos="100000">
                <a:srgbClr val="1F2937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Inter"/>
              </a:defRPr>
            </a:pPr>
            <a:r>
              <a:rPr/>
              <a:t>TALENT &amp; WORKFORCE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Our people are the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compounding asset.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2800" b="0" i="0">
                <a:latin typeface="Inter"/>
              </a:rPr>
              <a:t>An honest read on engagement, representation, and leadership — and the seven moves that earn us the right to call ourselves a destination employer.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2937"/>
                </a:solidFill>
                <a:latin typeface="Inter"/>
              </a:defRPr>
            </a:pPr>
            <a:r>
              <a:rPr/>
              <a:t>Lina Okafor, Chief Human Resources Officer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Executive Committee  •  FY27 Strategy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9D174D"/>
                </a:solidFill>
                <a:latin typeface="Inter"/>
              </a:rPr>
              <a:t>Where we are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DF2F8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9D174D"/>
                </a:solidFill>
                <a:latin typeface="Inter"/>
              </a:rPr>
              <a:t>62,400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Total employees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DF2F8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9D174D"/>
                </a:solidFill>
                <a:latin typeface="Inter"/>
              </a:rPr>
              <a:t>+38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Engagement (eNPS)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+21%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DF2F8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9D174D"/>
                </a:solidFill>
                <a:latin typeface="Inter"/>
              </a:rPr>
              <a:t>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Voluntary attrition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−27%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DF2F8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9D174D"/>
                </a:solidFill>
                <a:latin typeface="Inter"/>
              </a:rPr>
              <a:t>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Internal mobility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+31%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eNPS up 21 points; attrition down to 8.6%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Movement at every level — and our gaps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DF2F8"/>
          </a:solidFill>
          <a:ln>
            <a:noFill/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9D174D"/>
                </a:solidFill>
                <a:latin typeface="Inter"/>
              </a:defRPr>
            </a:pPr>
            <a:r>
              <a:rPr/>
              <a:t>Where we still need work</a:t>
            </a:r>
          </a:p>
          <a:p>
            <a:pPr>
              <a:spcBef>
                <a:spcPts val="1000"/>
              </a:spcBef>
              <a:defRPr sz="1300" b="1">
                <a:solidFill>
                  <a:srgbClr val="1F2937"/>
                </a:solidFill>
              </a:defRPr>
            </a:pPr>
            <a:r>
              <a:rPr/>
              <a:t>VP+ pipeline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8 pp gap to FY29 target — sponsor program needed.</a:t>
            </a:r>
          </a:p>
          <a:p>
            <a:pPr>
              <a:spcBef>
                <a:spcPts val="1000"/>
              </a:spcBef>
              <a:defRPr sz="1300" b="1">
                <a:solidFill>
                  <a:srgbClr val="1F2937"/>
                </a:solidFill>
              </a:defRPr>
            </a:pPr>
            <a:r>
              <a:rPr/>
              <a:t>Geographic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EMEA leadership representation lags US by 9 pp.</a:t>
            </a:r>
          </a:p>
          <a:p>
            <a:pPr>
              <a:spcBef>
                <a:spcPts val="1000"/>
              </a:spcBef>
              <a:defRPr sz="1300" b="1">
                <a:solidFill>
                  <a:srgbClr val="1F2937"/>
                </a:solidFill>
              </a:defRPr>
            </a:pPr>
            <a:r>
              <a:rPr/>
              <a:t>STEM technical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23% women in engineering — apprenticeship pilot to scale.</a:t>
            </a:r>
          </a:p>
          <a:p>
            <a:pPr>
              <a:spcBef>
                <a:spcPts val="1000"/>
              </a:spcBef>
              <a:defRPr sz="1300" b="1">
                <a:solidFill>
                  <a:srgbClr val="1F2937"/>
                </a:solidFill>
              </a:defRPr>
            </a:pPr>
            <a:r>
              <a:rPr/>
              <a:t>Disability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Self-ID at 4.1%; investing in psychological safety.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PAY EQUITY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Adjusted gender pay gap below 1% across all geos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  <a:gridCol w="2468880"/>
                <a:gridCol w="1828800"/>
                <a:gridCol w="1737360"/>
              </a:tblGrid>
              <a:tr h="6096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Region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Unadjusted gap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Adjusted gap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Audit firm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North America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8.2%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Mercer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EMEA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11.4%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Mercer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APAC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9.8%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LATAM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12.1%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Action plan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Network-wide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9.6%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Independent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CE7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280"/>
                </a:solidFill>
              </a:defRPr>
            </a:pPr>
            <a:r>
              <a:rPr/>
              <a:t>Adjusted gap controls for role, level, tenure, location, and performance. Independently audited annually; results published in our ESG report.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SKILLS OF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Six capabilities every team will need by FY29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AI fluency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Every employee uses AI safely in their daily work; technical builds on top of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703320" cy="109728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Data literacy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Decision-making rooted in evidence — every manager passes our data baseline.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70332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Customer-craft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We hire and promote on demonstrated empathy and craftsmanship, not credentials.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3703320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Systems thinking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Engineers and operators trained to see — and improve — entire flows, not steps.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370332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Sustainability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Embedded in every product and process decision, not a side-bar function.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4069080"/>
            <a:ext cx="370332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54000" bIns="177800"/>
          <a:lstStyle/>
          <a:p>
            <a:pPr>
              <a:defRPr sz="1700" b="1">
                <a:solidFill>
                  <a:srgbClr val="1F2937"/>
                </a:solidFill>
                <a:latin typeface="Inter"/>
              </a:defRPr>
            </a:pPr>
            <a:r>
              <a:rPr/>
              <a:t>Inclusive leadership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</a:defRPr>
            </a:pPr>
            <a:r>
              <a:rPr/>
              <a:t>Every people-leader certified in inclusive practices by FY28 H1.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4069080"/>
            <a:ext cx="3703320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LEADERSHIP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Bench depth — ready-now and ready-soon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88819"/>
                <a:gridCol w="1988819"/>
                <a:gridCol w="1988819"/>
                <a:gridCol w="1988819"/>
              </a:tblGrid>
              <a:tr h="65836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Ready-now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Ready-soon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Risk roles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Bench ratio</a:t>
                      </a:r>
                    </a:p>
                  </a:txBody>
                  <a:tcPr anchor="ctr">
                    <a:solidFill>
                      <a:srgbClr val="9D174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CEO direct reports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 of 12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 of 12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0.58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VP / SVP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 of 88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61 of 88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1.06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Director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94 of 312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188 of 312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Senior Manager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210 of 740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380 of 740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0.80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D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1500" b="0" i="0">
                <a:latin typeface="Inter"/>
              </a:rPr>
              <a:t>CEO direct-report bench remains the fragile tier. We are running an external slate alongside three internal candidates for two roles, and have committed sponsors for the eight high-potential VPs.</a:t>
            </a:r>
            <a:endParaRPr sz="1500" b="0" i="0">
              <a:latin typeface="Inter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WELLBEING &amp; BELONGING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F2937"/>
                </a:solidFill>
              </a:defRPr>
            </a:pPr>
            <a:r>
              <a:rPr sz="3200" b="1" i="0">
                <a:latin typeface="Inter"/>
              </a:rPr>
              <a:t>Where the work-experience numbers stand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9D174D"/>
                </a:solidFill>
                <a:latin typeface="Inter"/>
              </a:defRPr>
            </a:pPr>
            <a:r>
              <a:rPr/>
              <a:t>87%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agree manager cares about wellbeing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F59E0B"/>
                </a:solidFill>
                <a:latin typeface="Inter"/>
              </a:defRPr>
            </a:pPr>
            <a:r>
              <a:rPr/>
              <a:t>82%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agree they belong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0EA5E9"/>
                </a:solidFill>
                <a:latin typeface="Inter"/>
              </a:defRPr>
            </a:pPr>
            <a:r>
              <a:rPr/>
              <a:t>4.6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Glassdoor (out of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16A34A"/>
                </a:solidFill>
                <a:latin typeface="Inter"/>
              </a:defRPr>
            </a:pPr>
            <a:r>
              <a:rPr/>
              <a:t>63%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use mental-health benefits annually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7C3AED"/>
                </a:solidFill>
                <a:latin typeface="Inter"/>
              </a:defRPr>
            </a:pPr>
            <a:r>
              <a:rPr/>
              <a:t>$48M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annual wellbeing 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F293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/>
          <a:lstStyle/>
          <a:p>
            <a:pPr>
              <a:defRPr sz="4000" b="1">
                <a:solidFill>
                  <a:srgbClr val="DC2626"/>
                </a:solidFill>
                <a:latin typeface="Inter"/>
              </a:defRPr>
            </a:pPr>
            <a:r>
              <a:rPr/>
              <a:t>12 wk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fully paid family leave (all geos)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1">
                <a:solidFill>
                  <a:srgbClr val="9D174D"/>
                </a:solidFill>
                <a:latin typeface="Inter"/>
              </a:rPr>
              <a:t>“People don't leave companies, they leave bosses. Our number-one investment in FY27 is in the manager tier — because that's where engagement is made or lost.”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— Lina Okafor, CHRO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Talent &amp; Workforce Strategy  |  Executive Committee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D174D"/>
              </a:gs>
              <a:gs pos="100000">
                <a:srgbClr val="1F2937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Be the place careers are made.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59E0B"/>
                </a:solidFill>
              </a:defRPr>
            </a:pPr>
            <a:r>
              <a:rPr sz="2200" b="0" i="0">
                <a:latin typeface="Inter"/>
              </a:rPr>
              <a:t>Three asks. Three commitments. Three years.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
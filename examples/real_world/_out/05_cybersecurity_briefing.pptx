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Northwind threat volume vs. industry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Industry-wide attempts (k)</c:v>
                </c:pt>
              </c:strCache>
            </c:strRef>
          </c:tx>
          <c:spPr>
            <a:solidFill>
              <a:srgbClr val="1F2937"/>
            </a:solidFill>
          </c:spPr>
          <c:cat>
            <c:strRef>
              <c:f>Sheet1!$A$2:$A$9</c:f>
              <c:strCache>
                <c:ptCount val="8"/>
                <c:pt idx="0">
                  <c:v>Q1 FY25</c:v>
                </c:pt>
                <c:pt idx="1">
                  <c:v>Q2 FY25</c:v>
                </c:pt>
                <c:pt idx="2">
                  <c:v>Q3 FY25</c:v>
                </c:pt>
                <c:pt idx="3">
                  <c:v>Q4 FY25</c:v>
                </c:pt>
                <c:pt idx="4">
                  <c:v>Q1 FY26</c:v>
                </c:pt>
                <c:pt idx="5">
                  <c:v>Q2 FY26</c:v>
                </c:pt>
                <c:pt idx="6">
                  <c:v>Q3 FY26</c:v>
                </c:pt>
                <c:pt idx="7">
                  <c:v>Q4 FY26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118</c:v>
                </c:pt>
                <c:pt idx="1">
                  <c:v>132</c:v>
                </c:pt>
                <c:pt idx="2">
                  <c:v>154</c:v>
                </c:pt>
                <c:pt idx="3">
                  <c:v>168</c:v>
                </c:pt>
                <c:pt idx="4">
                  <c:v>191</c:v>
                </c:pt>
                <c:pt idx="5">
                  <c:v>210</c:v>
                </c:pt>
                <c:pt idx="6">
                  <c:v>234</c:v>
                </c:pt>
                <c:pt idx="7">
                  <c:v>248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Northwind blocked (k)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Sheet1!$A$2:$A$9</c:f>
              <c:strCache>
                <c:ptCount val="8"/>
                <c:pt idx="0">
                  <c:v>Q1 FY25</c:v>
                </c:pt>
                <c:pt idx="1">
                  <c:v>Q2 FY25</c:v>
                </c:pt>
                <c:pt idx="2">
                  <c:v>Q3 FY25</c:v>
                </c:pt>
                <c:pt idx="3">
                  <c:v>Q4 FY25</c:v>
                </c:pt>
                <c:pt idx="4">
                  <c:v>Q1 FY26</c:v>
                </c:pt>
                <c:pt idx="5">
                  <c:v>Q2 FY26</c:v>
                </c:pt>
                <c:pt idx="6">
                  <c:v>Q3 FY26</c:v>
                </c:pt>
                <c:pt idx="7">
                  <c:v>Q4 FY26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108</c:v>
                </c:pt>
                <c:pt idx="1">
                  <c:v>123</c:v>
                </c:pt>
                <c:pt idx="2">
                  <c:v>148</c:v>
                </c:pt>
                <c:pt idx="3">
                  <c:v>161</c:v>
                </c:pt>
                <c:pt idx="4">
                  <c:v>188</c:v>
                </c:pt>
                <c:pt idx="5">
                  <c:v>207</c:v>
                </c:pt>
                <c:pt idx="6">
                  <c:v>229</c:v>
                </c:pt>
                <c:pt idx="7">
                  <c:v>244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Industry breaches (count)</c:v>
                </c:pt>
              </c:strCache>
            </c:strRef>
          </c:tx>
          <c:spPr>
            <a:solidFill>
              <a:srgbClr val="DC2626"/>
            </a:solidFill>
          </c:spPr>
          <c:cat>
            <c:strRef>
              <c:f>Sheet1!$A$2:$A$9</c:f>
              <c:strCache>
                <c:ptCount val="8"/>
                <c:pt idx="0">
                  <c:v>Q1 FY25</c:v>
                </c:pt>
                <c:pt idx="1">
                  <c:v>Q2 FY25</c:v>
                </c:pt>
                <c:pt idx="2">
                  <c:v>Q3 FY25</c:v>
                </c:pt>
                <c:pt idx="3">
                  <c:v>Q4 FY25</c:v>
                </c:pt>
                <c:pt idx="4">
                  <c:v>Q1 FY26</c:v>
                </c:pt>
                <c:pt idx="5">
                  <c:v>Q2 FY26</c:v>
                </c:pt>
                <c:pt idx="6">
                  <c:v>Q3 FY26</c:v>
                </c:pt>
                <c:pt idx="7">
                  <c:v>Q4 FY26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24</c:v>
                </c:pt>
                <c:pt idx="1">
                  <c:v>28</c:v>
                </c:pt>
                <c:pt idx="2">
                  <c:v>31</c:v>
                </c:pt>
                <c:pt idx="3">
                  <c:v>33</c:v>
                </c:pt>
                <c:pt idx="4">
                  <c:v>41</c:v>
                </c:pt>
                <c:pt idx="5">
                  <c:v>46</c:v>
                </c:pt>
                <c:pt idx="6">
                  <c:v>53</c:v>
                </c:pt>
                <c:pt idx="7">
                  <c:v>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NIST CSF maturity (1–4 scale, higher is better)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 (FY26)</c:v>
                </c:pt>
              </c:strCache>
            </c:strRef>
          </c:tx>
          <c:spPr>
            <a:solidFill>
              <a:srgbClr val="1F2937"/>
            </a:solidFill>
          </c:spPr>
          <c:cat>
            <c:strRef>
              <c:f>Sheet1!$A$2:$A$7</c:f>
              <c:strCache>
                <c:ptCount val="6"/>
                <c:pt idx="0">
                  <c:v>Identify</c:v>
                </c:pt>
                <c:pt idx="1">
                  <c:v>Protect</c:v>
                </c:pt>
                <c:pt idx="2">
                  <c:v>Detect</c:v>
                </c:pt>
                <c:pt idx="3">
                  <c:v>Respond</c:v>
                </c:pt>
                <c:pt idx="4">
                  <c:v>Recover</c:v>
                </c:pt>
                <c:pt idx="5">
                  <c:v>Govern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3.6</c:v>
                </c:pt>
                <c:pt idx="1">
                  <c:v>3.5</c:v>
                </c:pt>
                <c:pt idx="2">
                  <c:v>3.7</c:v>
                </c:pt>
                <c:pt idx="3">
                  <c:v>3.2</c:v>
                </c:pt>
                <c:pt idx="4">
                  <c:v>2.9</c:v>
                </c:pt>
                <c:pt idx="5">
                  <c:v>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(FY27)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Sheet1!$A$2:$A$7</c:f>
              <c:strCache>
                <c:ptCount val="6"/>
                <c:pt idx="0">
                  <c:v>Identify</c:v>
                </c:pt>
                <c:pt idx="1">
                  <c:v>Protect</c:v>
                </c:pt>
                <c:pt idx="2">
                  <c:v>Detect</c:v>
                </c:pt>
                <c:pt idx="3">
                  <c:v>Respond</c:v>
                </c:pt>
                <c:pt idx="4">
                  <c:v>Recover</c:v>
                </c:pt>
                <c:pt idx="5">
                  <c:v>Govern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4.0</c:v>
                </c:pt>
                <c:pt idx="1">
                  <c:v>4.0</c:v>
                </c:pt>
                <c:pt idx="2">
                  <c:v>4.0</c:v>
                </c:pt>
                <c:pt idx="3">
                  <c:v>4.0</c:v>
                </c:pt>
                <c:pt idx="4">
                  <c:v>3.8</c:v>
                </c:pt>
                <c:pt idx="5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Annual cyber investment by capability ($M)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Identity</c:v>
                </c:pt>
              </c:strCache>
            </c:strRef>
          </c:tx>
          <c:spPr>
            <a:solidFill>
              <a:srgbClr val="1F2937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FY26</c:v>
                </c:pt>
                <c:pt idx="1">
                  <c:v>FY27</c:v>
                </c:pt>
                <c:pt idx="2">
                  <c:v>FY28</c:v>
                </c:pt>
                <c:pt idx="3">
                  <c:v>FY29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24</c:v>
                </c:pt>
                <c:pt idx="2">
                  <c:v>28</c:v>
                </c:pt>
                <c:pt idx="3">
                  <c:v>30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Detection</c:v>
                </c:pt>
              </c:strCache>
            </c:strRef>
          </c:tx>
          <c:spPr>
            <a:solidFill>
              <a:srgbClr val="F59E0B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FY26</c:v>
                </c:pt>
                <c:pt idx="1">
                  <c:v>FY27</c:v>
                </c:pt>
                <c:pt idx="2">
                  <c:v>FY28</c:v>
                </c:pt>
                <c:pt idx="3">
                  <c:v>FY29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</c:v>
                </c:pt>
                <c:pt idx="1">
                  <c:v>22</c:v>
                </c:pt>
                <c:pt idx="2">
                  <c:v>24</c:v>
                </c:pt>
                <c:pt idx="3">
                  <c:v>24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rgbClr val="DC2626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FY26</c:v>
                </c:pt>
                <c:pt idx="1">
                  <c:v>FY27</c:v>
                </c:pt>
                <c:pt idx="2">
                  <c:v>FY28</c:v>
                </c:pt>
                <c:pt idx="3">
                  <c:v>FY29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</c:v>
                </c:pt>
                <c:pt idx="1">
                  <c:v>14</c:v>
                </c:pt>
                <c:pt idx="2">
                  <c:v>18</c:v>
                </c:pt>
                <c:pt idx="3">
                  <c:v>20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OT/IoT</c:v>
                </c:pt>
              </c:strCache>
            </c:strRef>
          </c:tx>
          <c:spPr>
            <a:solidFill>
              <a:srgbClr val="16A34A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FY26</c:v>
                </c:pt>
                <c:pt idx="1">
                  <c:v>FY27</c:v>
                </c:pt>
                <c:pt idx="2">
                  <c:v>FY28</c:v>
                </c:pt>
                <c:pt idx="3">
                  <c:v>FY29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</c:v>
                </c:pt>
                <c:pt idx="1">
                  <c:v>10</c:v>
                </c:pt>
                <c:pt idx="2">
                  <c:v>16</c:v>
                </c:pt>
                <c:pt idx="3">
                  <c:v>22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Awareness</c:v>
                </c:pt>
              </c:strCache>
            </c:strRef>
          </c:tx>
          <c:spPr>
            <a:solidFill>
              <a:srgbClr val="3B82F6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FY26</c:v>
                </c:pt>
                <c:pt idx="1">
                  <c:v>FY27</c:v>
                </c:pt>
                <c:pt idx="2">
                  <c:v>FY28</c:v>
                </c:pt>
                <c:pt idx="3">
                  <c:v>FY29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gradFill rotWithShape="1">
            <a:gsLst>
              <a:gs pos="0">
                <a:srgbClr val="1F2937"/>
              </a:gs>
              <a:gs pos="100000">
                <a:srgbClr val="0F172A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10972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Inter"/>
              </a:defRPr>
            </a:pPr>
            <a:r>
              <a:rPr/>
              <a:t>CYBERSECURITY BOARD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297680" cy="2926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4400" b="1" i="0">
                <a:latin typeface="Inter"/>
              </a:rPr>
              <a:t>Posture, incidents,</a:t>
            </a:r>
            <a:endParaRPr sz="4400" b="1" i="0">
              <a:latin typeface="Inter"/>
            </a:endParaRPr>
          </a:p>
          <a:p>
            <a:r>
              <a:rPr sz="4400" b="1" i="0">
                <a:latin typeface="Inter"/>
              </a:rPr>
              <a:t>and the road to maturity 4.0.</a:t>
            </a:r>
            <a:endParaRPr sz="4400" b="1" i="0"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377440"/>
            <a:ext cx="621792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2800" b="0" i="0">
                <a:latin typeface="Inter"/>
              </a:rPr>
              <a:t>Northwind's quarterly assessment against the NIST CSF and a candid view of the threat environment.</a:t>
            </a:r>
            <a:endParaRPr sz="2800" b="0" i="0"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530352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rPr/>
              <a:t>Lena Whitfield, Chief Information Security Officer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rPr/>
              <a:t>Q4 FY26  •  Risk &amp; Audit Committee  •  February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Inter"/>
              </a:rP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602153" cy="173736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1F2937"/>
                </a:solidFill>
                <a:latin typeface="Inter"/>
              </a:rPr>
              <a:t>3.4 /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NIST CSF maturity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Inter"/>
              </a:rPr>
              <a:t>+10%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645920"/>
            <a:ext cx="2602153" cy="173736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79393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1F2937"/>
                </a:solidFill>
                <a:latin typeface="Inter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9393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Sev-1 incidents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9393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Inter"/>
              </a:rPr>
              <a:t>−100%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6" y="1645920"/>
            <a:ext cx="2602153" cy="173736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0146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1F2937"/>
                </a:solidFill>
                <a:latin typeface="Inter"/>
              </a:rPr>
              <a:t>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6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Mean time to 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6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Inter"/>
              </a:rPr>
              <a:t>−42%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0899" y="1645920"/>
            <a:ext cx="2602153" cy="1737360"/>
          </a:xfrm>
          <a:prstGeom prst="roundRect">
            <a:avLst/>
          </a:prstGeom>
          <a:solidFill>
            <a:srgbClr val="F3F4F6"/>
          </a:solidFill>
          <a:ln w="9525">
            <a:solidFill>
              <a:srgbClr val="64748B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40899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1F2937"/>
                </a:solidFill>
                <a:latin typeface="Inter"/>
              </a:rPr>
              <a:t>1.7%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0899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4748B"/>
                </a:solidFill>
                <a:latin typeface="Inter"/>
              </a:rPr>
              <a:t>Phishing click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0899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Inter"/>
              </a:rPr>
              <a:t>−36%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Q4 FY26 Risk &amp; Audit Committee  |  Restricted — 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Inter"/>
              </a:defRPr>
            </a:pPr>
            <a:r>
              <a:rPr/>
              <a:t>EXTERNAL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Threats targeting our sector are up 41% YoY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76809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03920" y="1554480"/>
            <a:ext cx="3200400" cy="45720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1800" b="1">
                <a:solidFill>
                  <a:srgbClr val="1F2937"/>
                </a:solidFill>
                <a:latin typeface="Inter"/>
              </a:defRPr>
            </a:pPr>
            <a:r>
              <a:rPr/>
              <a:t>Most active actor groups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Akira (criminal)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/>
              <a:t>Ransomware, double-extortion.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Vanir (criminal)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/>
              <a:t>Supply-chain compromise.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Gnomon (state-aligned)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/>
              <a:t>IP theft from R&amp;D systems.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Insider (low)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rPr/>
              <a:t>Negligent misconfiguration.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Q4 FY26 Risk &amp; Audit Committee  |  Restricted —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Inter"/>
              </a:defRPr>
            </a:pPr>
            <a:r>
              <a:rPr/>
              <a:t>POSTURE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NIST CSF maturity — current vs. FY27 target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Q4 FY26 Risk &amp; Audit Committee  |  Restricted — 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Inter"/>
              </a:defRPr>
            </a:pPr>
            <a:r>
              <a:rPr/>
              <a:t>Q4 FY26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Incident register — 6 events, all contained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2377440"/>
                <a:gridCol w="2286000"/>
                <a:gridCol w="1188720"/>
                <a:gridCol w="1554480"/>
                <a:gridCol w="1371600"/>
              </a:tblGrid>
              <a:tr h="600891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Affected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MTTD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MTTR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F293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Oct 21, 2025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Credential stuffing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Customer portal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11m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1h 8m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Nov 04, 2025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Phishing — finance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12 inboxes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32m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Nov 27, 2025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DDoS volumetric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Public marketing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47m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Dec 14, 2025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Misconfigured S3 bucket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Marketing assets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2h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4h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Jan 09, 2026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Vendor compromise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SaaS analytics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9m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2h 3m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Jan 23, 2026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Lost device (encrypted)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 endpoint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22m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A34A"/>
                          </a:solidFill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rPr/>
              <a:t>Zero S1 events. All S2/S3 contained within SLAs. No regulatory notification thresholds met.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Q4 FY26 Risk &amp; Audit Committee  |  Restricted —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Inter"/>
              </a:defRPr>
            </a:pPr>
            <a:r>
              <a:rPr/>
              <a:t>RISK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Top 5 enterprise cyber risks — board view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4592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Inter"/>
              </a:defRPr>
            </a:pPr>
            <a:r>
              <a:rPr/>
              <a:t>Identity &amp; access compromise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rPr/>
              <a:t>5,800 SaaS apps; non-human identities outnumber humans 12:1.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1810512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HIGH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6032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Inter"/>
              </a:defRPr>
            </a:pPr>
            <a:r>
              <a:rPr/>
              <a:t>Ransomware via vendor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rPr/>
              <a:t>Third-party SaaS providers hold or process 41% of regulated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2724912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HIGH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7472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Inter"/>
              </a:defRPr>
            </a:pPr>
            <a:r>
              <a:rPr/>
              <a:t>AI / data leakage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rPr/>
              <a:t>Sanctioned and shadow LLM usage continues to expand.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3639312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MEDIUM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480559"/>
            <a:ext cx="502920" cy="50292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38912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Inter"/>
              </a:defRPr>
            </a:pPr>
            <a:r>
              <a:rPr/>
              <a:t>OT / plant systems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rPr/>
              <a:t>Legacy industrial protocols; 18% of plant assets still on EOL 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4553712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MEDIUM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94959"/>
            <a:ext cx="502920" cy="50292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/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30352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Inter"/>
              </a:defRPr>
            </a:pPr>
            <a:r>
              <a:rPr/>
              <a:t>Insider — negligent</a:t>
            </a:r>
          </a:p>
          <a:p>
            <a:pPr>
              <a:defRPr sz="1200">
                <a:solidFill>
                  <a:srgbClr val="64748B"/>
                </a:solidFill>
                <a:latin typeface="Inter"/>
              </a:defRPr>
            </a:pPr>
            <a:r>
              <a:rPr/>
              <a:t>Misconfiguration remains our most common root cause.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5468112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/>
              <a:t>MEDIUM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Q4 FY26 Risk &amp; Audit Committee  |  Restricted — 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Inter"/>
              </a:defRPr>
            </a:pPr>
            <a:r>
              <a:rPr/>
              <a:t>ROADMAP TO MATURITY 4.0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Three-year cyber investment plan: $268M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Q4 FY26 Risk &amp; Audit Committee  |  Restricted — 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Inter"/>
              </a:defRPr>
            </a:pPr>
            <a:r>
              <a:rPr/>
              <a:t>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Culture: phishing failures down 36%, awareness up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6974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>
              <a:defRPr sz="2800" b="1">
                <a:solidFill>
                  <a:srgbClr val="1F2937"/>
                </a:solidFill>
                <a:latin typeface="Inter"/>
              </a:defRPr>
            </a:pPr>
            <a:r>
              <a:rPr/>
              <a:t>1.7%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rPr/>
              <a:t>Q4 phishing click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691640"/>
            <a:ext cx="26974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>
              <a:defRPr sz="2800" b="1">
                <a:solidFill>
                  <a:srgbClr val="1F2937"/>
                </a:solidFill>
                <a:latin typeface="Inter"/>
              </a:defRPr>
            </a:pPr>
            <a:r>
              <a:rPr/>
              <a:t>96%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rPr/>
              <a:t>Mandatory training completion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46120"/>
            <a:ext cx="26974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>
              <a:defRPr sz="2800" b="1">
                <a:solidFill>
                  <a:srgbClr val="1F2937"/>
                </a:solidFill>
                <a:latin typeface="Inter"/>
              </a:defRPr>
            </a:pPr>
            <a:r>
              <a:rPr/>
              <a:t>142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rPr/>
              <a:t>Internal reporters per 1,000 emp.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3246120"/>
            <a:ext cx="26974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52400"/>
          <a:lstStyle/>
          <a:p>
            <a:pPr>
              <a:defRPr sz="2800" b="1">
                <a:solidFill>
                  <a:srgbClr val="1F2937"/>
                </a:solidFill>
                <a:latin typeface="Inter"/>
              </a:defRPr>
            </a:pPr>
            <a:r>
              <a:rPr/>
              <a:t>28%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rPr/>
              <a:t>Reduction in repeat clickers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Inter"/>
              </a:defRPr>
            </a:pPr>
            <a:r>
              <a:rPr/>
              <a:t>Phishing simulation cadence</a:t>
            </a:r>
          </a:p>
          <a:p>
            <a:pPr>
              <a:spcAft>
                <a:spcPts val="800"/>
              </a:spcAft>
              <a:defRPr sz="1200">
                <a:solidFill>
                  <a:srgbClr val="64748B"/>
                </a:solidFill>
              </a:defRPr>
            </a:pPr>
            <a:r>
              <a:rPr/>
              <a:t>Every 30 days, 4 difficulty tiers.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  <a:latin typeface="Inter"/>
              </a:defRPr>
            </a:pPr>
            <a:r>
              <a:rPr/>
              <a:t>Just-in-time coaching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/>
              <a:t>Repeat clickers receive 5-minute reset training.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  <a:latin typeface="Inter"/>
              </a:defRPr>
            </a:pPr>
            <a:r>
              <a:rPr/>
              <a:t>Champions network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/>
              <a:t>208 cyber-champions across BUs and geographies.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  <a:latin typeface="Inter"/>
              </a:defRPr>
            </a:pPr>
            <a:r>
              <a:rPr/>
              <a:t>Executive tabletop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rPr/>
              <a:t>Quarterly C-suite simulation; next session: April 9.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Q4 FY26 Risk &amp; Audit Committee  |  Restricted —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Inter"/>
              </a:defRPr>
            </a:pPr>
            <a:r>
              <a:rPr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F2937"/>
              </a:gs>
              <a:gs pos="100000">
                <a:srgbClr val="0F17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rPr/>
              <a:t>ASKS OF THE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4200" b="1" i="0">
                <a:latin typeface="Inter"/>
              </a:rPr>
              <a:t>Three decisions for today's session.</a:t>
            </a:r>
            <a:endParaRPr sz="4200" b="1" i="0">
              <a:latin typeface="Inter"/>
            </a:endParaRPr>
          </a:p>
        </p:txBody>
      </p:sp>
      <p:sp>
        <p:nvSpPr>
          <p:cNvPr id="5" name="Oval 4"/>
          <p:cNvSpPr/>
          <p:nvPr/>
        </p:nvSpPr>
        <p:spPr>
          <a:xfrm>
            <a:off x="731520" y="32918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/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337560"/>
            <a:ext cx="100584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2000" b="0" i="0">
                <a:latin typeface="Inter"/>
              </a:rPr>
              <a:t>Approve the FY27 cyber budget at $98M (+15% YoY).</a:t>
            </a:r>
            <a:endParaRPr sz="2000" b="0" i="0">
              <a:latin typeface="Inter"/>
            </a:endParaRPr>
          </a:p>
        </p:txBody>
      </p:sp>
      <p:sp>
        <p:nvSpPr>
          <p:cNvPr id="7" name="Oval 6"/>
          <p:cNvSpPr/>
          <p:nvPr/>
        </p:nvSpPr>
        <p:spPr>
          <a:xfrm>
            <a:off x="731520" y="42519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/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297680"/>
            <a:ext cx="100584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2000" b="0" i="0">
                <a:latin typeface="Inter"/>
              </a:rPr>
              <a:t>Endorse the OT modernization program — 18-month plan.</a:t>
            </a:r>
            <a:endParaRPr sz="2000" b="0" i="0">
              <a:latin typeface="Inter"/>
            </a:endParaRPr>
          </a:p>
        </p:txBody>
      </p:sp>
      <p:sp>
        <p:nvSpPr>
          <p:cNvPr id="9" name="Oval 8"/>
          <p:cNvSpPr/>
          <p:nvPr/>
        </p:nvSpPr>
        <p:spPr>
          <a:xfrm>
            <a:off x="731520" y="52120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/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5257800"/>
            <a:ext cx="100584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2000" b="0" i="0">
                <a:latin typeface="Inter"/>
              </a:rPr>
              <a:t>Reaffirm the cyber-incident disclosure policy and delegation thresholds.</a:t>
            </a:r>
            <a:endParaRPr sz="2000" b="0" i="0"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
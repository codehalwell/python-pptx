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06040"/>
            <a:ext cx="10362895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4F46E5"/>
                </a:solidFill>
                <a:latin typeface="Inter"/>
              </a:rPr>
              <a:t>The power-pptx Showcase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60520"/>
            <a:ext cx="103628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4748B"/>
                </a:solidFill>
                <a:latin typeface="Inter"/>
              </a:rPr>
              <a:t>Space-aware authoring, design tokens &amp; visual effects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4F46E5"/>
                </a:solidFill>
                <a:latin typeface="Inter"/>
              </a:rPr>
              <a:t>Why this fork exists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3545738" cy="17373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64748B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874520"/>
            <a:ext cx="354573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4F46E5"/>
                </a:solidFill>
                <a:latin typeface="Inter"/>
              </a:rPr>
              <a:t>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354573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4748B"/>
                </a:solidFill>
                <a:latin typeface="Inter"/>
              </a:rPr>
              <a:t>Overflow bugs caught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354573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0B981"/>
                </a:solidFill>
                <a:latin typeface="Inter"/>
              </a:rPr>
              <a:t>+100%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1645920"/>
            <a:ext cx="3545738" cy="17373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64748B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322978" y="1874520"/>
            <a:ext cx="354573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4F46E5"/>
                </a:solidFill>
                <a:latin typeface="Inter"/>
              </a:rPr>
              <a:t>Yes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2978" y="2651760"/>
            <a:ext cx="354573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4748B"/>
                </a:solidFill>
                <a:latin typeface="Inter"/>
              </a:rPr>
              <a:t>Off-slide shapes auto-fixed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2978" y="3017520"/>
            <a:ext cx="354573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0B981"/>
                </a:solidFill>
                <a:latin typeface="Inter"/>
              </a:rPr>
              <a:t>+95%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7316" y="1645920"/>
            <a:ext cx="3545738" cy="17373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64748B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097316" y="1874520"/>
            <a:ext cx="354573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4F46E5"/>
                </a:solidFill>
                <a:latin typeface="Inter"/>
              </a:rPr>
              <a:t>Zero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7316" y="2651760"/>
            <a:ext cx="354573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4748B"/>
                </a:solidFill>
                <a:latin typeface="Inter"/>
              </a:rPr>
              <a:t>Manual cleanup needed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7316" y="3017520"/>
            <a:ext cx="354573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F4444"/>
                </a:solidFill>
                <a:latin typeface="Inter"/>
              </a:rPr>
              <a:t>−100%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4F46E5"/>
                </a:solidFill>
                <a:latin typeface="Inter"/>
              </a:rPr>
              <a:t>What ships in 1.1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Inter"/>
              </a:rPr>
              <a:t>•  Pre-flight text fitting via Pillow font metrics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Inter"/>
              </a:rPr>
              <a:t>•  Slide linter with auto-fix for off-slide shapes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Inter"/>
              </a:rPr>
              <a:t>•  Design tokens, slide recipes, Grid + Stack layout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Inter"/>
              </a:rPr>
              <a:t>•  Animations, transitions, and motion paths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Inter"/>
              </a:rPr>
              <a:t>•  Visual effects: shadows, glows, gradients, alpha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97135" cy="320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 i="1">
                <a:solidFill>
                  <a:srgbClr val="4F46E5"/>
                </a:solidFill>
                <a:latin typeface="Inter"/>
              </a:rPr>
              <a:t>“The new dashboards saved my team a week per sprint.”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5120640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4748B"/>
                </a:solidFill>
                <a:latin typeface="Inter"/>
              </a:rPr>
              <a:t>— Director of Engineering, Flagship Customer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4F46E5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594360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Inter"/>
              </a:rPr>
              <a:t>Built for dynamic generation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09728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4000" b="1" i="0">
                <a:latin typeface="Inter"/>
              </a:rPr>
              <a:t>The pillars</a:t>
            </a:r>
            <a:endParaRPr sz="4000" b="1" i="0">
              <a:latin typeface="Inter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09600" y="2556933"/>
            <a:ext cx="3522032" cy="2717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>
              <a:defRPr sz="2200" b="1">
                <a:solidFill>
                  <a:srgbClr val="4F46E5"/>
                </a:solidFill>
                <a:latin typeface="Inter"/>
              </a:defRPr>
            </a:pPr>
            <a:r>
              <a:rPr/>
              <a:t>Space-aware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Text never overflows. Shapes never wander off-slide.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34832" y="2556933"/>
            <a:ext cx="3522032" cy="2717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>
              <a:defRPr sz="2200" b="1">
                <a:solidFill>
                  <a:srgbClr val="4F46E5"/>
                </a:solidFill>
                <a:latin typeface="Inter"/>
              </a:defRPr>
            </a:pPr>
            <a:r>
              <a:rPr/>
              <a:t>Design tokens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One palette + typography spec drives every recipe.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60063" y="2556933"/>
            <a:ext cx="3522032" cy="2717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>
              <a:defRPr sz="2200" b="1">
                <a:solidFill>
                  <a:srgbClr val="4F46E5"/>
                </a:solidFill>
                <a:latin typeface="Inter"/>
              </a:defRPr>
            </a:pPr>
            <a:r>
              <a:rPr/>
              <a:t>Visual polish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Shadows, glows, gradients without writing OOXML.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